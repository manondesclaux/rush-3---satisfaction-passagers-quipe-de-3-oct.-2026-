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Neutres ou insatisfaits</c:v>
                </c:pt>
              </c:strCache>
            </c:strRef>
          </c:tx>
          <c:spPr>
            <a:solidFill>
              <a:srgbClr val="0039FA"/>
            </a:solidFill>
          </c:spPr>
          <c:invertIfNegative val="0"/>
          <c:dPt>
            <c:idx val="0"/>
            <c:spPr>
              <a:solidFill>
                <a:srgbClr val="FF5F39"/>
              </a:solidFill>
            </c:spPr>
          </c:dPt>
          <c:dPt>
            <c:idx val="1"/>
            <c:spPr>
              <a:solidFill>
                <a:srgbClr val="FF5F39"/>
              </a:solidFill>
            </c:spPr>
          </c:dPt>
          <c:dPt>
            <c:idx val="2"/>
            <c:spPr>
              <a:solidFill>
                <a:srgbClr val="7F9CFC"/>
              </a:solidFill>
            </c:spPr>
          </c:dPt>
          <c:dPt>
            <c:idx val="3"/>
            <c:spPr>
              <a:solidFill>
                <a:srgbClr val="7F9CFC"/>
              </a:solidFill>
            </c:spPr>
          </c:dPt>
          <c:dPt>
            <c:idx val="4"/>
            <c:spPr>
              <a:solidFill>
                <a:srgbClr val="7F9CFC"/>
              </a:solidFill>
            </c:spPr>
          </c:dPt>
          <c:dPt>
            <c:idx val="5"/>
            <c:spPr>
              <a:solidFill>
                <a:srgbClr val="7F9CFC"/>
              </a:solidFill>
            </c:spPr>
          </c:dPt>
          <c:dLbls>
            <c:numFmt formatCode="0&quot; %&quot;" sourceLinked="0"/>
            <c:txPr>
              <a:bodyPr/>
              <a:lstStyle/>
              <a:p>
                <a:pPr>
                  <a:defRPr sz="1300" b="0">
                    <a:solidFill>
                      <a:srgbClr val="1A1A1A"/>
                    </a:solidFill>
                    <a:latin typeface="IBM Plex Sans"/>
                  </a:defRPr>
                </a:pPr>
              </a:p>
            </c:txPr>
            <c:dLblPos val="outEnd"/>
            <c:showLegendKey val="0"/>
            <c:showVal val="1"/>
            <c:showCatName val="0"/>
            <c:showSerName val="0"/>
            <c:showPercent val="0"/>
            <c:showBubbleSize val="0"/>
            <c:showLeaderLines val="1"/>
          </c:dLbls>
          <c:cat>
            <c:strRef>
              <c:f>Sheet1!$A$2:$A$7</c:f>
              <c:strCache>
                <c:ptCount val="6"/>
                <c:pt idx="0">
                  <c:v>Loisirs, Eco Plus</c:v>
                </c:pt>
                <c:pt idx="1">
                  <c:v>Loisirs, Eco</c:v>
                </c:pt>
                <c:pt idx="2">
                  <c:v>Loisirs, Business</c:v>
                </c:pt>
                <c:pt idx="3">
                  <c:v>Pro, Eco</c:v>
                </c:pt>
                <c:pt idx="4">
                  <c:v>Pro, Eco Plus</c:v>
                </c:pt>
                <c:pt idx="5">
                  <c:v>Pro, Business</c:v>
                </c:pt>
              </c:strCache>
            </c:strRef>
          </c:cat>
          <c:val>
            <c:numRef>
              <c:f>Sheet1!$B$2:$B$7</c:f>
              <c:numCache>
                <c:formatCode>General</c:formatCode>
                <c:ptCount val="6"/>
                <c:pt idx="0">
                  <c:v>91</c:v>
                </c:pt>
                <c:pt idx="1">
                  <c:v>90</c:v>
                </c:pt>
                <c:pt idx="2">
                  <c:v>88</c:v>
                </c:pt>
                <c:pt idx="3">
                  <c:v>70</c:v>
                </c:pt>
                <c:pt idx="4">
                  <c:v>61</c:v>
                </c:pt>
                <c:pt idx="5">
                  <c:v>28</c:v>
                </c:pt>
              </c:numCache>
            </c:numRef>
          </c:val>
        </c:ser>
        <c:gapWidth val="60"/>
        <c:axId val="-2068027336"/>
        <c:axId val="-2113994440"/>
      </c:barChart>
      <c:catAx>
        <c:axId val="-2068027336"/>
        <c:scaling>
          <c:orientation val="maxMin"/>
        </c:scaling>
        <c:delete val="0"/>
        <c:axPos val="l"/>
        <c:majorTickMark val="out"/>
        <c:minorTickMark val="none"/>
        <c:tickLblPos val="nextTo"/>
        <c:spPr>
          <a:ln>
            <a:solidFill>
              <a:srgbClr val="BFC5CF"/>
            </a:solidFill>
          </a:ln>
        </c:spPr>
        <c:txPr>
          <a:bodyPr/>
          <a:lstStyle/>
          <a:p>
            <a:pPr>
              <a:defRPr sz="1300">
                <a:latin typeface="IBM Plex Sans"/>
              </a:defRPr>
            </a:pPr>
          </a:p>
        </c:txPr>
        <c:crossAx val="-2113994440"/>
        <c:crosses val="autoZero"/>
        <c:auto val="1"/>
        <c:lblAlgn val="ctr"/>
        <c:lblOffset val="100"/>
        <c:noMultiLvlLbl val="0"/>
      </c:catAx>
      <c:valAx>
        <c:axId val="-2113994440"/>
        <c:scaling>
          <c:max val="105.0"/>
          <c:min val="0.0"/>
        </c:scaling>
        <c:delete/>
        <c:axPos val="b"/>
        <c:majorTickMark val="out"/>
        <c:minorTickMark val="none"/>
        <c:tickLblPos val="nextTo"/>
        <c:crossAx val="-2068027336"/>
        <c:crosses val="autoZero"/>
      </c:valAx>
    </c:plotArea>
    <c:dispBlanksAs val="gap"/>
  </c:chart>
  <c:txPr>
    <a:bodyPr/>
    <a:lstStyle/>
    <a:p>
      <a:pPr>
        <a:defRPr sz="1200">
          <a:solidFill>
            <a:srgbClr val="1A1A1A"/>
          </a:solidFill>
          <a:latin typeface="IBM Plex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Effet</c:v>
                </c:pt>
              </c:strCache>
            </c:strRef>
          </c:tx>
          <c:spPr>
            <a:solidFill>
              <a:srgbClr val="0039FA"/>
            </a:solidFill>
          </c:spPr>
          <c:invertIfNegative val="0"/>
          <c:dPt>
            <c:idx val="0"/>
            <c:spPr>
              <a:solidFill>
                <a:srgbClr val="0039FA"/>
              </a:solidFill>
            </c:spPr>
          </c:dPt>
          <c:dPt>
            <c:idx val="1"/>
            <c:spPr>
              <a:solidFill>
                <a:srgbClr val="0039FA"/>
              </a:solidFill>
            </c:spPr>
          </c:dPt>
          <c:dPt>
            <c:idx val="2"/>
            <c:spPr>
              <a:solidFill>
                <a:srgbClr val="7F9CFC"/>
              </a:solidFill>
            </c:spPr>
          </c:dPt>
          <c:dPt>
            <c:idx val="3"/>
            <c:spPr>
              <a:solidFill>
                <a:srgbClr val="BFC5CF"/>
              </a:solidFill>
            </c:spPr>
          </c:dPt>
          <c:dPt>
            <c:idx val="4"/>
            <c:spPr>
              <a:solidFill>
                <a:srgbClr val="BFC5CF"/>
              </a:solidFill>
            </c:spPr>
          </c:dPt>
          <c:dPt>
            <c:idx val="5"/>
            <c:spPr>
              <a:solidFill>
                <a:srgbClr val="BFC5CF"/>
              </a:solidFill>
            </c:spPr>
          </c:dPt>
          <c:dLbls>
            <c:numFmt formatCode="&quot;x &quot;0.0" sourceLinked="0"/>
            <c:txPr>
              <a:bodyPr/>
              <a:lstStyle/>
              <a:p>
                <a:pPr>
                  <a:defRPr sz="1300" b="0">
                    <a:solidFill>
                      <a:srgbClr val="1A1A1A"/>
                    </a:solidFill>
                    <a:latin typeface="IBM Plex Sans"/>
                  </a:defRPr>
                </a:pPr>
              </a:p>
            </c:txPr>
            <c:dLblPos val="outEnd"/>
            <c:showLegendKey val="0"/>
            <c:showVal val="1"/>
            <c:showCatName val="0"/>
            <c:showSerName val="0"/>
            <c:showPercent val="0"/>
            <c:showBubbleSize val="0"/>
            <c:showLeaderLines val="1"/>
          </c:dLbls>
          <c:cat>
            <c:strRef>
              <c:f>Sheet1!$A$2:$A$7</c:f>
              <c:strCache>
                <c:ptCount val="6"/>
                <c:pt idx="0">
                  <c:v>Wifi à bord</c:v>
                </c:pt>
                <c:pt idx="1">
                  <c:v>Embarquement en ligne</c:v>
                </c:pt>
                <c:pt idx="2">
                  <c:v>Réservation en ligne</c:v>
                </c:pt>
                <c:pt idx="3">
                  <c:v>Service à bord</c:v>
                </c:pt>
                <c:pt idx="4">
                  <c:v>Enregistrement</c:v>
                </c:pt>
                <c:pt idx="5">
                  <c:v>Place pour les jambes</c:v>
                </c:pt>
              </c:strCache>
            </c:strRef>
          </c:cat>
          <c:val>
            <c:numRef>
              <c:f>Sheet1!$B$2:$B$7</c:f>
              <c:numCache>
                <c:formatCode>General</c:formatCode>
                <c:ptCount val="6"/>
                <c:pt idx="0">
                  <c:v>2.7</c:v>
                </c:pt>
                <c:pt idx="1">
                  <c:v>2.4</c:v>
                </c:pt>
                <c:pt idx="2">
                  <c:v>1.5</c:v>
                </c:pt>
                <c:pt idx="3">
                  <c:v>1.4</c:v>
                </c:pt>
                <c:pt idx="4">
                  <c:v>1.4</c:v>
                </c:pt>
                <c:pt idx="5">
                  <c:v>1.3</c:v>
                </c:pt>
              </c:numCache>
            </c:numRef>
          </c:val>
        </c:ser>
        <c:gapWidth val="60"/>
        <c:axId val="-2068027336"/>
        <c:axId val="-2113994440"/>
      </c:barChart>
      <c:catAx>
        <c:axId val="-2068027336"/>
        <c:scaling>
          <c:orientation val="maxMin"/>
        </c:scaling>
        <c:delete val="0"/>
        <c:axPos val="l"/>
        <c:majorTickMark val="out"/>
        <c:minorTickMark val="none"/>
        <c:tickLblPos val="nextTo"/>
        <c:spPr>
          <a:ln>
            <a:solidFill>
              <a:srgbClr val="BFC5CF"/>
            </a:solidFill>
          </a:ln>
        </c:spPr>
        <c:txPr>
          <a:bodyPr/>
          <a:lstStyle/>
          <a:p>
            <a:pPr>
              <a:defRPr sz="1300">
                <a:latin typeface="IBM Plex Sans"/>
              </a:defRPr>
            </a:pPr>
          </a:p>
        </c:txPr>
        <c:crossAx val="-2113994440"/>
        <c:crosses val="autoZero"/>
        <c:auto val="1"/>
        <c:lblAlgn val="ctr"/>
        <c:lblOffset val="100"/>
        <c:noMultiLvlLbl val="0"/>
      </c:catAx>
      <c:valAx>
        <c:axId val="-2113994440"/>
        <c:scaling>
          <c:max val="3.3"/>
          <c:min val="0.0"/>
        </c:scaling>
        <c:delete/>
        <c:axPos val="b"/>
        <c:majorTickMark val="out"/>
        <c:minorTickMark val="none"/>
        <c:tickLblPos val="nextTo"/>
        <c:crossAx val="-2068027336"/>
        <c:crosses val="autoZero"/>
      </c:valAx>
    </c:plotArea>
    <c:dispBlanksAs val="gap"/>
  </c:chart>
  <c:txPr>
    <a:bodyPr/>
    <a:lstStyle/>
    <a:p>
      <a:pPr>
        <a:defRPr sz="1200">
          <a:solidFill>
            <a:srgbClr val="1A1A1A"/>
          </a:solidFill>
          <a:latin typeface="IBM Plex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Note de 3 sur 5</c:v>
                </c:pt>
              </c:strCache>
            </c:strRef>
          </c:tx>
          <c:spPr>
            <a:solidFill>
              <a:srgbClr val="FF5F39"/>
            </a:solidFill>
          </c:spPr>
          <c:invertIfNegative val="0"/>
          <c:dLbls>
            <c:numFmt formatCode="0&quot; %&quot;" sourceLinked="0"/>
            <c:txPr>
              <a:bodyPr/>
              <a:lstStyle/>
              <a:p>
                <a:pPr>
                  <a:defRPr sz="1200" b="0">
                    <a:solidFill>
                      <a:srgbClr val="1A1A1A"/>
                    </a:solidFill>
                    <a:latin typeface="IBM Plex Sans"/>
                  </a:defRPr>
                </a:pPr>
              </a:p>
            </c:txPr>
            <c:dLblPos val="outEnd"/>
            <c:showLegendKey val="0"/>
            <c:showVal val="1"/>
            <c:showCatName val="0"/>
            <c:showSerName val="0"/>
            <c:showPercent val="0"/>
            <c:showBubbleSize val="0"/>
            <c:showLeaderLines val="1"/>
          </c:dLbls>
          <c:cat>
            <c:strRef>
              <c:f>Sheet1!$A$2:$A$5</c:f>
              <c:strCache>
                <c:ptCount val="4"/>
                <c:pt idx="0">
                  <c:v>Wifi à bord</c:v>
                </c:pt>
                <c:pt idx="1">
                  <c:v>Embarquement en ligne</c:v>
                </c:pt>
                <c:pt idx="2">
                  <c:v>Réservation en ligne</c:v>
                </c:pt>
                <c:pt idx="3">
                  <c:v>Confort du siège</c:v>
                </c:pt>
              </c:strCache>
            </c:strRef>
          </c:cat>
          <c:val>
            <c:numRef>
              <c:f>Sheet1!$B$2:$B$5</c:f>
              <c:numCache>
                <c:formatCode>General</c:formatCode>
                <c:ptCount val="4"/>
                <c:pt idx="0">
                  <c:v>81</c:v>
                </c:pt>
                <c:pt idx="1">
                  <c:v>89</c:v>
                </c:pt>
                <c:pt idx="2">
                  <c:v>75</c:v>
                </c:pt>
                <c:pt idx="3">
                  <c:v>81</c:v>
                </c:pt>
              </c:numCache>
            </c:numRef>
          </c:val>
        </c:ser>
        <c:ser>
          <c:idx val="1"/>
          <c:order val="1"/>
          <c:tx>
            <c:strRef>
              <c:f>Sheet1!$C$1</c:f>
              <c:strCache>
                <c:ptCount val="1"/>
                <c:pt idx="0">
                  <c:v>Note de 5 sur 5</c:v>
                </c:pt>
              </c:strCache>
            </c:strRef>
          </c:tx>
          <c:spPr>
            <a:solidFill>
              <a:srgbClr val="0039FA"/>
            </a:solidFill>
          </c:spPr>
          <c:invertIfNegative val="0"/>
          <c:dLbls>
            <c:numFmt formatCode="0&quot; %&quot;" sourceLinked="0"/>
            <c:txPr>
              <a:bodyPr/>
              <a:lstStyle/>
              <a:p>
                <a:pPr>
                  <a:defRPr sz="1200" b="0">
                    <a:solidFill>
                      <a:srgbClr val="1A1A1A"/>
                    </a:solidFill>
                    <a:latin typeface="IBM Plex Sans"/>
                  </a:defRPr>
                </a:pPr>
              </a:p>
            </c:txPr>
            <c:dLblPos val="outEnd"/>
            <c:showLegendKey val="0"/>
            <c:showVal val="1"/>
            <c:showCatName val="0"/>
            <c:showSerName val="0"/>
            <c:showPercent val="0"/>
            <c:showBubbleSize val="0"/>
            <c:showLeaderLines val="1"/>
          </c:dLbls>
          <c:cat>
            <c:strRef>
              <c:f>Sheet1!$A$2:$A$5</c:f>
              <c:strCache>
                <c:ptCount val="4"/>
                <c:pt idx="0">
                  <c:v>Wifi à bord</c:v>
                </c:pt>
                <c:pt idx="1">
                  <c:v>Embarquement en ligne</c:v>
                </c:pt>
                <c:pt idx="2">
                  <c:v>Réservation en ligne</c:v>
                </c:pt>
                <c:pt idx="3">
                  <c:v>Confort du siège</c:v>
                </c:pt>
              </c:strCache>
            </c:strRef>
          </c:cat>
          <c:val>
            <c:numRef>
              <c:f>Sheet1!$C$2:$C$5</c:f>
              <c:numCache>
                <c:formatCode>General</c:formatCode>
                <c:ptCount val="4"/>
                <c:pt idx="0">
                  <c:v>1</c:v>
                </c:pt>
                <c:pt idx="1">
                  <c:v>17</c:v>
                </c:pt>
                <c:pt idx="2">
                  <c:v>29</c:v>
                </c:pt>
                <c:pt idx="3">
                  <c:v>43</c:v>
                </c:pt>
              </c:numCache>
            </c:numRef>
          </c:val>
        </c:ser>
        <c:gapWidth val="60"/>
        <c:overlap val="-10"/>
        <c:axId val="-2068027336"/>
        <c:axId val="-2113994440"/>
      </c:barChart>
      <c:catAx>
        <c:axId val="-2068027336"/>
        <c:scaling>
          <c:orientation val="maxMin"/>
        </c:scaling>
        <c:delete val="0"/>
        <c:axPos val="l"/>
        <c:majorTickMark val="out"/>
        <c:minorTickMark val="none"/>
        <c:tickLblPos val="nextTo"/>
        <c:spPr>
          <a:ln>
            <a:solidFill>
              <a:srgbClr val="BFC5CF"/>
            </a:solidFill>
          </a:ln>
        </c:spPr>
        <c:txPr>
          <a:bodyPr/>
          <a:lstStyle/>
          <a:p>
            <a:pPr>
              <a:defRPr sz="1300">
                <a:latin typeface="IBM Plex Sans"/>
              </a:defRPr>
            </a:pPr>
          </a:p>
        </c:txPr>
        <c:crossAx val="-2113994440"/>
        <c:crosses val="autoZero"/>
        <c:auto val="1"/>
        <c:lblAlgn val="ctr"/>
        <c:lblOffset val="100"/>
        <c:noMultiLvlLbl val="0"/>
      </c:catAx>
      <c:valAx>
        <c:axId val="-2113994440"/>
        <c:scaling>
          <c:max val="105.0"/>
          <c:min val="0.0"/>
        </c:scaling>
        <c:delete/>
        <c:axPos val="b"/>
        <c:majorTickMark val="out"/>
        <c:minorTickMark val="none"/>
        <c:tickLblPos val="nextTo"/>
        <c:crossAx val="-2068027336"/>
        <c:crosses val="autoZero"/>
      </c:valAx>
    </c:plotArea>
    <c:legend>
      <c:legendPos val="b"/>
      <c:overlay val="0"/>
      <c:txPr>
        <a:bodyPr/>
        <a:lstStyle/>
        <a:p>
          <a:pPr>
            <a:defRPr sz="1200">
              <a:latin typeface="IBM Plex Sans"/>
            </a:defRPr>
          </a:pPr>
        </a:p>
      </c:txPr>
    </c:legend>
    <c:dispBlanksAs val="gap"/>
  </c:chart>
  <c:txPr>
    <a:bodyPr/>
    <a:lstStyle/>
    <a:p>
      <a:pPr>
        <a:defRPr sz="1200">
          <a:solidFill>
            <a:srgbClr val="1A1A1A"/>
          </a:solidFill>
          <a:latin typeface="IBM Plex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Neutres ou insatisfaits approchés</c:v>
                </c:pt>
              </c:strCache>
            </c:strRef>
          </c:tx>
          <c:spPr>
            <a:solidFill>
              <a:srgbClr val="7F9CFC"/>
            </a:solidFill>
          </c:spPr>
          <c:invertIfNegative val="0"/>
          <c:dPt>
            <c:idx val="0"/>
            <c:spPr>
              <a:solidFill>
                <a:srgbClr val="7F9CFC"/>
              </a:solidFill>
            </c:spPr>
          </c:dPt>
          <c:dPt>
            <c:idx val="1"/>
            <c:spPr>
              <a:solidFill>
                <a:srgbClr val="7F9CFC"/>
              </a:solidFill>
            </c:spPr>
          </c:dPt>
          <c:dPt>
            <c:idx val="2"/>
            <c:spPr>
              <a:solidFill>
                <a:srgbClr val="7F9CFC"/>
              </a:solidFill>
            </c:spPr>
          </c:dPt>
          <c:dPt>
            <c:idx val="3"/>
            <c:spPr>
              <a:solidFill>
                <a:srgbClr val="FF5F39"/>
              </a:solidFill>
            </c:spPr>
          </c:dPt>
          <c:dPt>
            <c:idx val="4"/>
            <c:spPr>
              <a:solidFill>
                <a:srgbClr val="7F9CFC"/>
              </a:solidFill>
            </c:spPr>
          </c:dPt>
          <c:dLbls>
            <c:numFmt formatCode="0" sourceLinked="0"/>
            <c:txPr>
              <a:bodyPr/>
              <a:lstStyle/>
              <a:p>
                <a:pPr>
                  <a:defRPr sz="1300" b="1">
                    <a:solidFill>
                      <a:srgbClr val="FFFFFF"/>
                    </a:solidFill>
                    <a:latin typeface="IBM Plex Sans"/>
                  </a:defRPr>
                </a:pPr>
              </a:p>
            </c:txPr>
            <c:dLblPos val="inEnd"/>
            <c:showLegendKey val="0"/>
            <c:showVal val="1"/>
            <c:showCatName val="0"/>
            <c:showSerName val="0"/>
            <c:showPercent val="0"/>
            <c:showBubbleSize val="0"/>
            <c:showLeaderLines val="1"/>
          </c:dLbls>
          <c:cat>
            <c:strRef>
              <c:f>Sheet1!$A$2:$A$6</c:f>
              <c:strCache>
                <c:ptCount val="5"/>
                <c:pt idx="0">
                  <c:v>Sans ciblage (au hasard)</c:v>
                </c:pt>
                <c:pt idx="1">
                  <c:v>Les plus en retard</c:v>
                </c:pt>
                <c:pt idx="2">
                  <c:v>Règle : loisirs en Eco ou Eco Plus</c:v>
                </c:pt>
                <c:pt idx="3">
                  <c:v>Arbre de décision (retenu)</c:v>
                </c:pt>
                <c:pt idx="4">
                  <c:v>Gradient boosting</c:v>
                </c:pt>
              </c:strCache>
            </c:strRef>
          </c:cat>
          <c:val>
            <c:numRef>
              <c:f>Sheet1!$B$2:$B$6</c:f>
              <c:numCache>
                <c:formatCode>General</c:formatCode>
                <c:ptCount val="5"/>
                <c:pt idx="0">
                  <c:v>63</c:v>
                </c:pt>
                <c:pt idx="1">
                  <c:v>70</c:v>
                </c:pt>
                <c:pt idx="2">
                  <c:v>90</c:v>
                </c:pt>
                <c:pt idx="3">
                  <c:v>96</c:v>
                </c:pt>
                <c:pt idx="4">
                  <c:v>97</c:v>
                </c:pt>
              </c:numCache>
            </c:numRef>
          </c:val>
        </c:ser>
        <c:ser>
          <c:idx val="1"/>
          <c:order val="1"/>
          <c:tx>
            <c:strRef>
              <c:f>Sheet1!$C$1</c:f>
              <c:strCache>
                <c:ptCount val="1"/>
                <c:pt idx="0">
                  <c:v>Approches inutiles (40 € chacune)</c:v>
                </c:pt>
              </c:strCache>
            </c:strRef>
          </c:tx>
          <c:spPr>
            <a:solidFill>
              <a:srgbClr val="FFEFEB"/>
            </a:solidFill>
          </c:spPr>
          <c:invertIfNegative val="0"/>
          <c:cat>
            <c:strRef>
              <c:f>Sheet1!$A$2:$A$6</c:f>
              <c:strCache>
                <c:ptCount val="5"/>
                <c:pt idx="0">
                  <c:v>Sans ciblage (au hasard)</c:v>
                </c:pt>
                <c:pt idx="1">
                  <c:v>Les plus en retard</c:v>
                </c:pt>
                <c:pt idx="2">
                  <c:v>Règle : loisirs en Eco ou Eco Plus</c:v>
                </c:pt>
                <c:pt idx="3">
                  <c:v>Arbre de décision (retenu)</c:v>
                </c:pt>
                <c:pt idx="4">
                  <c:v>Gradient boosting</c:v>
                </c:pt>
              </c:strCache>
            </c:strRef>
          </c:cat>
          <c:val>
            <c:numRef>
              <c:f>Sheet1!$C$2:$C$6</c:f>
              <c:numCache>
                <c:formatCode>General</c:formatCode>
                <c:ptCount val="5"/>
                <c:pt idx="0">
                  <c:v>37</c:v>
                </c:pt>
                <c:pt idx="1">
                  <c:v>30</c:v>
                </c:pt>
                <c:pt idx="2">
                  <c:v>10</c:v>
                </c:pt>
                <c:pt idx="3">
                  <c:v>4</c:v>
                </c:pt>
                <c:pt idx="4">
                  <c:v>3</c:v>
                </c:pt>
              </c:numCache>
            </c:numRef>
          </c:val>
        </c:ser>
        <c:gapWidth val="60"/>
        <c:overlap val="100"/>
        <c:axId val="-2068027336"/>
        <c:axId val="-2113994440"/>
      </c:barChart>
      <c:catAx>
        <c:axId val="-2068027336"/>
        <c:scaling>
          <c:orientation val="maxMin"/>
        </c:scaling>
        <c:delete val="0"/>
        <c:axPos val="l"/>
        <c:majorTickMark val="out"/>
        <c:minorTickMark val="none"/>
        <c:tickLblPos val="nextTo"/>
        <c:spPr>
          <a:ln>
            <a:solidFill>
              <a:srgbClr val="BFC5CF"/>
            </a:solidFill>
          </a:ln>
        </c:spPr>
        <c:txPr>
          <a:bodyPr/>
          <a:lstStyle/>
          <a:p>
            <a:pPr>
              <a:defRPr sz="1300">
                <a:latin typeface="IBM Plex Sans"/>
              </a:defRPr>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200">
          <a:solidFill>
            <a:srgbClr val="1A1A1A"/>
          </a:solidFill>
          <a:latin typeface="IBM Plex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l'équipe et les deux questions de la direction : où investir le budget pour améliorer la satisfaction, et comment repérer les passagers neutres ou insatisfaits avant qu'ils quittent l'aéroport.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Plus de six passagers sur dix sont neutres ou insatisfaits. Le problème se concentre en Eco, et surtout chez les voyageurs de loisirs en Eco : 90 % de neutres ou insatisfaits, presque un passager sur trois. Précision méthodologique : l'enquête interroge un peu trop de Business par rapport aux avions ; nous avons corrigé le poids des classes avec une hypothèse de répartition, et vérifié que nos conclusions ne changent pas avec d'autres répartitions.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utilisé deux méthodes complémentaires. La première regarde chaque classe séparément, pour que la Business, très interrogée, n'impose pas ses priorités. La seconde compare des passagers au même profil. Les deux s'accordent : un point de note en plus sur le wifi multiplie par 2,7 les chances d'être satisfait, par 2,4 pour l'embarquement en ligne. Attention : ce sont des liens statistiques, à confirmer par un test avant d'engager tout le budget.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simple pour le budget : améliorer un service jusqu'à « correct » ne suffit pas. Pour le wifi, passer de 3 à 5 fait chuter la part de neutres ou insatisfaits de 81 % à 1 %. L'objectif doit être l'excellence sur les services prioritaires.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premières cartes sont les priorités du budget. Pour chacune, nous distinguons le lien observé, le levier sur lequel agir, et la cause : comme les notes et la satisfaction viennent du même questionnaire, nous recommandons un test sur quelques lignes avant d'investir massivement. Le confort cabine ne vaut l'investissement qu'en Business. Classe, motif et fidélité ne sont pas des leviers : ce sont des profils, qui servent au ciblage.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cadre économique de la direction : une approche coûte 40 €, un passager récupéré vaut en moyenne 100 €. Le programme est donc rentable dès que plus de 40 % des passagers approchés sont neutres ou insatisfaits. La vraie contrainte est la capacité : une personne sur dix. Il faut donc choisir les bons, uniquement avec ce qu'on sait à l'atterrissage.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outil pose trois questions connues à l'atterrissage : le passager voyage-t-il en Business ? Pour ses loisirs ? Est-il arrivé avec plus de 6 minutes de retard ? Le groupe en orange, les voyageurs de loisirs en Eco arrivés en retard, est neutre ou insatisfait à 96 %. Nous avons comparé cet arbre à un modèle plus complexe, le gradient boosting : il ne fait qu'un point de mieux, mais il est difficile à expliquer à un agent ou au comité.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hasard, on tombe sur 63 personnes neutres ou insatisfaites sur 100 : c'est déjà rentable, la question est donc qui approcher en premier. La règle simple « loisirs en Eco » monte à 90, l'arbre à 96. Résultat : environ 5 600 € de gain net pour 1 000 arrivées. Pour vérifier qu'il ne s'agit pas d'un hasard, le modèle a été testé une seule fois, à la fin, sur 25 893 autres passagers mis de côté : 96,1 %, quasi identique. Limite : sur 630 neutres ou insatisfaits pour 1 000 arrivées, la plupart restent hors d'atteinte faute de capacité ; ajouter des agents rapporte plus qu'améliorer le modèle.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parties font ressortir trois profils. Nous les avons comparés avec sept critères issus du sujet et des contraintes du terrain. Seul P1, le voyageur de loisirs en Eco ou Eco Plus arrivé en retard, les remplit tous : 96 % de neutres ou insatisfaits, une taille proche de la capacité des équipes, et un motif clair pour l'aborder, un retard dont la compagnie est responsable. P2 reste une seconde priorité quand il est en retard ; P3 relève d'un choix commercial.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questionnaire servait à mesurer la satisfaction ; signaler des passagers aux agents, dont la plupart n'ont jamais répondu, est un nouvel usage. Il est acceptable à cinq conditions. Insister sur les mineurs : ils représentent 18 % des signalés car ils voyagent en famille, mais l'âge n'est pas utilisé et ils ne sont jamais approchés seuls. L'agent ne voit jamais de score.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Résumer en trois colonnes : où investir, qui approcher, et les prochaines étapes. Le gain dépend du taux réel de passagers récupérés (de −400 € à +17 600 € pour 1 000 arrivées selon les hypothèses) : d'où le pilote avec groupe témoin avant de généraliser. Ouvrir aux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9FA"/>
        </a:solidFill>
        <a:effectLst/>
      </p:bgPr>
    </p:bg>
    <p:spTree>
      <p:nvGrpSpPr>
        <p:cNvPr id="1" name=""/>
        <p:cNvGrpSpPr/>
        <p:nvPr/>
      </p:nvGrpSpPr>
      <p:grpSpPr/>
      <p:sp>
        <p:nvSpPr>
          <p:cNvPr id="2" name="Titre"/>
          <p:cNvSpPr txBox="1"/>
          <p:nvPr/>
        </p:nvSpPr>
        <p:spPr>
          <a:xfrm>
            <a:off x="822960" y="1920240"/>
            <a:ext cx="10515600" cy="1463040"/>
          </a:xfrm>
          <a:prstGeom prst="rect">
            <a:avLst/>
          </a:prstGeom>
          <a:noFill/>
        </p:spPr>
        <p:txBody>
          <a:bodyPr wrap="square" anchor="t" lIns="0" rIns="0" tIns="0" bIns="0">
            <a:spAutoFit/>
          </a:bodyPr>
          <a:lstStyle/>
          <a:p>
            <a:pPr algn="l"/>
            <a:r>
              <a:rPr sz="7200" b="0">
                <a:solidFill>
                  <a:srgbClr val="FFFFFF"/>
                </a:solidFill>
                <a:latin typeface="Anton"/>
              </a:rPr>
              <a:t>SATISFACTION PASSAGERS</a:t>
            </a:r>
          </a:p>
        </p:txBody>
      </p:sp>
      <p:sp>
        <p:nvSpPr>
          <p:cNvPr id="3" name="Sous-titre"/>
          <p:cNvSpPr txBox="1"/>
          <p:nvPr/>
        </p:nvSpPr>
        <p:spPr>
          <a:xfrm>
            <a:off x="822960" y="3429000"/>
            <a:ext cx="10515600" cy="548640"/>
          </a:xfrm>
          <a:prstGeom prst="rect">
            <a:avLst/>
          </a:prstGeom>
          <a:noFill/>
        </p:spPr>
        <p:txBody>
          <a:bodyPr wrap="square" anchor="t" lIns="0" rIns="0" tIns="0" bIns="0">
            <a:spAutoFit/>
          </a:bodyPr>
          <a:lstStyle/>
          <a:p>
            <a:pPr algn="l"/>
            <a:r>
              <a:rPr sz="2600" b="0">
                <a:solidFill>
                  <a:srgbClr val="FFFFFF"/>
                </a:solidFill>
                <a:latin typeface="IBM Plex Sans"/>
              </a:rPr>
              <a:t>Où investir le budget, qui approcher à l'arrivée</a:t>
            </a:r>
          </a:p>
        </p:txBody>
      </p:sp>
      <p:sp>
        <p:nvSpPr>
          <p:cNvPr id="4" name="Contexte"/>
          <p:cNvSpPr txBox="1"/>
          <p:nvPr/>
        </p:nvSpPr>
        <p:spPr>
          <a:xfrm>
            <a:off x="822960" y="5394960"/>
            <a:ext cx="10515600" cy="365760"/>
          </a:xfrm>
          <a:prstGeom prst="rect">
            <a:avLst/>
          </a:prstGeom>
          <a:noFill/>
        </p:spPr>
        <p:txBody>
          <a:bodyPr wrap="square" anchor="t" lIns="0" rIns="0" tIns="0" bIns="0">
            <a:spAutoFit/>
          </a:bodyPr>
          <a:lstStyle/>
          <a:p>
            <a:pPr algn="l"/>
            <a:r>
              <a:rPr sz="1600" b="0">
                <a:solidFill>
                  <a:srgbClr val="FFFFFF"/>
                </a:solidFill>
                <a:latin typeface="IBM Plex Sans"/>
              </a:rPr>
              <a:t>Direction Expérience Client  |  Rush 3</a:t>
            </a:r>
          </a:p>
        </p:txBody>
      </p:sp>
      <p:sp>
        <p:nvSpPr>
          <p:cNvPr id="5" name="Équipe"/>
          <p:cNvSpPr txBox="1"/>
          <p:nvPr/>
        </p:nvSpPr>
        <p:spPr>
          <a:xfrm>
            <a:off x="822960" y="5760720"/>
            <a:ext cx="10515600" cy="365760"/>
          </a:xfrm>
          <a:prstGeom prst="rect">
            <a:avLst/>
          </a:prstGeom>
          <a:noFill/>
        </p:spPr>
        <p:txBody>
          <a:bodyPr wrap="square" anchor="t" lIns="0" rIns="0" tIns="0" bIns="0">
            <a:spAutoFit/>
          </a:bodyPr>
          <a:lstStyle/>
          <a:p>
            <a:pPr algn="l"/>
            <a:r>
              <a:rPr sz="1600" b="1">
                <a:solidFill>
                  <a:srgbClr val="FFFFFF"/>
                </a:solidFill>
                <a:latin typeface="IBM Plex Sans"/>
              </a:rPr>
              <a:t>Mina, Manon D., Manon 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LE CONSTAT</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63 % des passagers sont neutres ou insatisfaits</a:t>
            </a:r>
          </a:p>
        </p:txBody>
      </p:sp>
      <p:sp>
        <p:nvSpPr>
          <p:cNvPr id="4" name="Chiffre clé 1"/>
          <p:cNvSpPr/>
          <p:nvPr/>
        </p:nvSpPr>
        <p:spPr>
          <a:xfrm>
            <a:off x="548640" y="1691640"/>
            <a:ext cx="4206240" cy="123444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3840480" cy="640080"/>
          </a:xfrm>
          <a:prstGeom prst="rect">
            <a:avLst/>
          </a:prstGeom>
          <a:noFill/>
        </p:spPr>
        <p:txBody>
          <a:bodyPr wrap="square" anchor="t" lIns="0" rIns="0" tIns="0" bIns="0">
            <a:spAutoFit/>
          </a:bodyPr>
          <a:lstStyle/>
          <a:p>
            <a:pPr algn="l"/>
            <a:r>
              <a:rPr sz="3600" b="1">
                <a:solidFill>
                  <a:srgbClr val="0039FA"/>
                </a:solidFill>
                <a:latin typeface="IBM Plex Sans"/>
              </a:rPr>
              <a:t>63 %</a:t>
            </a:r>
          </a:p>
        </p:txBody>
      </p:sp>
      <p:sp>
        <p:nvSpPr>
          <p:cNvPr id="6" name="TextBox 5"/>
          <p:cNvSpPr txBox="1"/>
          <p:nvPr/>
        </p:nvSpPr>
        <p:spPr>
          <a:xfrm>
            <a:off x="777240" y="2423160"/>
            <a:ext cx="3840480" cy="457200"/>
          </a:xfrm>
          <a:prstGeom prst="rect">
            <a:avLst/>
          </a:prstGeom>
          <a:noFill/>
        </p:spPr>
        <p:txBody>
          <a:bodyPr wrap="square" anchor="t" lIns="0" rIns="0" tIns="0" bIns="0">
            <a:spAutoFit/>
          </a:bodyPr>
          <a:lstStyle/>
          <a:p>
            <a:pPr algn="l"/>
            <a:r>
              <a:rPr sz="1300" b="0">
                <a:solidFill>
                  <a:srgbClr val="1A1A1A"/>
                </a:solidFill>
                <a:latin typeface="IBM Plex Sans"/>
              </a:rPr>
              <a:t>des passagers sont neutres ou insatisfaits</a:t>
            </a:r>
          </a:p>
        </p:txBody>
      </p:sp>
      <p:sp>
        <p:nvSpPr>
          <p:cNvPr id="7" name="Chiffre clé 2"/>
          <p:cNvSpPr/>
          <p:nvPr/>
        </p:nvSpPr>
        <p:spPr>
          <a:xfrm>
            <a:off x="548640" y="3108960"/>
            <a:ext cx="4206240" cy="123444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246120"/>
            <a:ext cx="3840480" cy="640080"/>
          </a:xfrm>
          <a:prstGeom prst="rect">
            <a:avLst/>
          </a:prstGeom>
          <a:noFill/>
        </p:spPr>
        <p:txBody>
          <a:bodyPr wrap="square" anchor="t" lIns="0" rIns="0" tIns="0" bIns="0">
            <a:spAutoFit/>
          </a:bodyPr>
          <a:lstStyle/>
          <a:p>
            <a:pPr algn="l"/>
            <a:r>
              <a:rPr sz="3600" b="1">
                <a:solidFill>
                  <a:srgbClr val="0039FA"/>
                </a:solidFill>
                <a:latin typeface="IBM Plex Sans"/>
              </a:rPr>
              <a:t>71 %</a:t>
            </a:r>
          </a:p>
        </p:txBody>
      </p:sp>
      <p:sp>
        <p:nvSpPr>
          <p:cNvPr id="9" name="TextBox 8"/>
          <p:cNvSpPr txBox="1"/>
          <p:nvPr/>
        </p:nvSpPr>
        <p:spPr>
          <a:xfrm>
            <a:off x="777240" y="3840480"/>
            <a:ext cx="3840480" cy="457200"/>
          </a:xfrm>
          <a:prstGeom prst="rect">
            <a:avLst/>
          </a:prstGeom>
          <a:noFill/>
        </p:spPr>
        <p:txBody>
          <a:bodyPr wrap="square" anchor="t" lIns="0" rIns="0" tIns="0" bIns="0">
            <a:spAutoFit/>
          </a:bodyPr>
          <a:lstStyle/>
          <a:p>
            <a:pPr algn="l"/>
            <a:r>
              <a:rPr sz="1300" b="0">
                <a:solidFill>
                  <a:srgbClr val="1A1A1A"/>
                </a:solidFill>
                <a:latin typeface="IBM Plex Sans"/>
              </a:rPr>
              <a:t>d'entre eux voyagent en Eco</a:t>
            </a:r>
          </a:p>
        </p:txBody>
      </p:sp>
      <p:sp>
        <p:nvSpPr>
          <p:cNvPr id="10" name="Chiffre clé 3"/>
          <p:cNvSpPr/>
          <p:nvPr/>
        </p:nvSpPr>
        <p:spPr>
          <a:xfrm>
            <a:off x="548640" y="4526280"/>
            <a:ext cx="4206240" cy="123444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663440"/>
            <a:ext cx="3840480" cy="640080"/>
          </a:xfrm>
          <a:prstGeom prst="rect">
            <a:avLst/>
          </a:prstGeom>
          <a:noFill/>
        </p:spPr>
        <p:txBody>
          <a:bodyPr wrap="square" anchor="t" lIns="0" rIns="0" tIns="0" bIns="0">
            <a:spAutoFit/>
          </a:bodyPr>
          <a:lstStyle/>
          <a:p>
            <a:pPr algn="l"/>
            <a:r>
              <a:rPr sz="3600" b="1">
                <a:solidFill>
                  <a:srgbClr val="0039FA"/>
                </a:solidFill>
                <a:latin typeface="IBM Plex Sans"/>
              </a:rPr>
              <a:t>90 %</a:t>
            </a:r>
          </a:p>
        </p:txBody>
      </p:sp>
      <p:sp>
        <p:nvSpPr>
          <p:cNvPr id="12" name="TextBox 11"/>
          <p:cNvSpPr txBox="1"/>
          <p:nvPr/>
        </p:nvSpPr>
        <p:spPr>
          <a:xfrm>
            <a:off x="777240" y="5257800"/>
            <a:ext cx="3840480" cy="457200"/>
          </a:xfrm>
          <a:prstGeom prst="rect">
            <a:avLst/>
          </a:prstGeom>
          <a:noFill/>
        </p:spPr>
        <p:txBody>
          <a:bodyPr wrap="square" anchor="t" lIns="0" rIns="0" tIns="0" bIns="0">
            <a:spAutoFit/>
          </a:bodyPr>
          <a:lstStyle/>
          <a:p>
            <a:pPr algn="l"/>
            <a:r>
              <a:rPr sz="1300" b="0">
                <a:solidFill>
                  <a:srgbClr val="1A1A1A"/>
                </a:solidFill>
                <a:latin typeface="IBM Plex Sans"/>
              </a:rPr>
              <a:t>de neutres ou insatisfaits chez les voyageurs de loisirs en Eco (31 % des passagers)</a:t>
            </a:r>
          </a:p>
        </p:txBody>
      </p:sp>
      <p:sp>
        <p:nvSpPr>
          <p:cNvPr id="13" name="TextBox 12"/>
          <p:cNvSpPr txBox="1"/>
          <p:nvPr/>
        </p:nvSpPr>
        <p:spPr>
          <a:xfrm>
            <a:off x="5303520" y="1645920"/>
            <a:ext cx="6309360" cy="365760"/>
          </a:xfrm>
          <a:prstGeom prst="rect">
            <a:avLst/>
          </a:prstGeom>
          <a:noFill/>
        </p:spPr>
        <p:txBody>
          <a:bodyPr wrap="square" anchor="t" lIns="0" rIns="0" tIns="0" bIns="0">
            <a:spAutoFit/>
          </a:bodyPr>
          <a:lstStyle/>
          <a:p>
            <a:pPr algn="l"/>
            <a:r>
              <a:rPr sz="1500" b="1">
                <a:solidFill>
                  <a:srgbClr val="1A1A1A"/>
                </a:solidFill>
                <a:latin typeface="IBM Plex Sans"/>
              </a:rPr>
              <a:t>Part de passagers neutres ou insatisfaits, par motif du voyage et classe</a:t>
            </a:r>
          </a:p>
        </p:txBody>
      </p:sp>
      <p:graphicFrame>
        <p:nvGraphicFramePr>
          <p:cNvPr id="14" name="Graphique segments"/>
          <p:cNvGraphicFramePr>
            <a:graphicFrameLocks noGrp="1"/>
          </p:cNvGraphicFramePr>
          <p:nvPr/>
        </p:nvGraphicFramePr>
        <p:xfrm>
          <a:off x="5120640" y="2057400"/>
          <a:ext cx="6492240" cy="3566160"/>
        </p:xfrm>
        <a:graphic>
          <a:graphicData uri="http://schemas.openxmlformats.org/drawingml/2006/chart">
            <c:chart xmlns:c="http://schemas.openxmlformats.org/drawingml/2006/chart" r:id="rId2"/>
          </a:graphicData>
        </a:graphic>
      </p:graphicFrame>
      <p:sp>
        <p:nvSpPr>
          <p:cNvPr id="15" name="Légende Loisirs en Eco ou Eco Plus"/>
          <p:cNvSpPr/>
          <p:nvPr/>
        </p:nvSpPr>
        <p:spPr>
          <a:xfrm>
            <a:off x="5349240" y="5715000"/>
            <a:ext cx="164592" cy="164592"/>
          </a:xfrm>
          <a:prstGeom prst="rect">
            <a:avLst/>
          </a:prstGeom>
          <a:solidFill>
            <a:srgbClr val="FF5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86983" y="5669280"/>
            <a:ext cx="2926080" cy="274320"/>
          </a:xfrm>
          <a:prstGeom prst="rect">
            <a:avLst/>
          </a:prstGeom>
          <a:noFill/>
        </p:spPr>
        <p:txBody>
          <a:bodyPr wrap="square" anchor="t" lIns="0" rIns="0" tIns="0" bIns="0">
            <a:spAutoFit/>
          </a:bodyPr>
          <a:lstStyle/>
          <a:p>
            <a:pPr algn="l"/>
            <a:r>
              <a:rPr sz="1200" b="0">
                <a:solidFill>
                  <a:srgbClr val="1A1A1A"/>
                </a:solidFill>
                <a:latin typeface="IBM Plex Sans"/>
              </a:rPr>
              <a:t>Loisirs en Eco ou Eco Plus</a:t>
            </a:r>
          </a:p>
        </p:txBody>
      </p:sp>
      <p:sp>
        <p:nvSpPr>
          <p:cNvPr id="17" name="Légende Autres groupes"/>
          <p:cNvSpPr/>
          <p:nvPr/>
        </p:nvSpPr>
        <p:spPr>
          <a:xfrm>
            <a:off x="8019288" y="5715000"/>
            <a:ext cx="164592" cy="164592"/>
          </a:xfrm>
          <a:prstGeom prst="rect">
            <a:avLst/>
          </a:prstGeom>
          <a:solidFill>
            <a:srgbClr val="7F9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5669280"/>
            <a:ext cx="2926080" cy="274320"/>
          </a:xfrm>
          <a:prstGeom prst="rect">
            <a:avLst/>
          </a:prstGeom>
          <a:noFill/>
        </p:spPr>
        <p:txBody>
          <a:bodyPr wrap="square" anchor="t" lIns="0" rIns="0" tIns="0" bIns="0">
            <a:spAutoFit/>
          </a:bodyPr>
          <a:lstStyle/>
          <a:p>
            <a:pPr algn="l"/>
            <a:r>
              <a:rPr sz="1200" b="0">
                <a:solidFill>
                  <a:srgbClr val="1A1A1A"/>
                </a:solidFill>
                <a:latin typeface="IBM Plex Sans"/>
              </a:rPr>
              <a:t>Autres groupes</a:t>
            </a:r>
          </a:p>
        </p:txBody>
      </p:sp>
      <p:sp>
        <p:nvSpPr>
          <p:cNvPr id="19" name="Note"/>
          <p:cNvSpPr txBox="1"/>
          <p:nvPr/>
        </p:nvSpPr>
        <p:spPr>
          <a:xfrm>
            <a:off x="548640" y="5989320"/>
            <a:ext cx="10972800" cy="320040"/>
          </a:xfrm>
          <a:prstGeom prst="rect">
            <a:avLst/>
          </a:prstGeom>
          <a:noFill/>
        </p:spPr>
        <p:txBody>
          <a:bodyPr wrap="square" anchor="t" lIns="0" rIns="0" tIns="0" bIns="0">
            <a:spAutoFit/>
          </a:bodyPr>
          <a:lstStyle/>
          <a:p>
            <a:pPr algn="l"/>
            <a:r>
              <a:rPr sz="1100" b="0">
                <a:solidFill>
                  <a:srgbClr val="555555"/>
                </a:solidFill>
                <a:latin typeface="IBM Plex Sans"/>
              </a:rPr>
              <a:t>103 594 passagers interrogés. Répartition par classe supposée : Eco 55 %, Business 35 %, Eco Plus 10 %.</a:t>
            </a:r>
          </a:p>
        </p:txBody>
      </p:sp>
      <p:sp>
        <p:nvSpPr>
          <p:cNvPr id="20"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21"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PARTIE 1 – CE QUI FAIT LA SATISFACTION</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Wifi et embarquement en ligne font la différence</a:t>
            </a:r>
          </a:p>
        </p:txBody>
      </p:sp>
      <p:sp>
        <p:nvSpPr>
          <p:cNvPr id="4" name="Méthode 1"/>
          <p:cNvSpPr/>
          <p:nvPr/>
        </p:nvSpPr>
        <p:spPr>
          <a:xfrm>
            <a:off x="548640" y="1691640"/>
            <a:ext cx="4480560" cy="141732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56232"/>
            <a:ext cx="4023360" cy="548640"/>
          </a:xfrm>
          <a:prstGeom prst="rect">
            <a:avLst/>
          </a:prstGeom>
          <a:noFill/>
        </p:spPr>
        <p:txBody>
          <a:bodyPr wrap="square" anchor="t" lIns="0" rIns="0" tIns="0" bIns="0">
            <a:spAutoFit/>
          </a:bodyPr>
          <a:lstStyle/>
          <a:p>
            <a:pPr algn="l"/>
            <a:r>
              <a:rPr sz="1400" b="1">
                <a:solidFill>
                  <a:srgbClr val="0039FA"/>
                </a:solidFill>
                <a:latin typeface="IBM Plex Sans"/>
              </a:rPr>
              <a:t>Méthode 1 : lien note / satisfaction, par classe (corrélation de Spearman)</a:t>
            </a:r>
          </a:p>
        </p:txBody>
      </p:sp>
      <p:sp>
        <p:nvSpPr>
          <p:cNvPr id="6" name="TextBox 5"/>
          <p:cNvSpPr txBox="1"/>
          <p:nvPr/>
        </p:nvSpPr>
        <p:spPr>
          <a:xfrm>
            <a:off x="777240" y="2404872"/>
            <a:ext cx="4023360" cy="640080"/>
          </a:xfrm>
          <a:prstGeom prst="rect">
            <a:avLst/>
          </a:prstGeom>
          <a:noFill/>
        </p:spPr>
        <p:txBody>
          <a:bodyPr wrap="square" anchor="t" lIns="0" rIns="0" tIns="0" bIns="0">
            <a:spAutoFit/>
          </a:bodyPr>
          <a:lstStyle/>
          <a:p>
            <a:pPr algn="l"/>
            <a:r>
              <a:rPr sz="1300" b="0">
                <a:solidFill>
                  <a:srgbClr val="1A1A1A"/>
                </a:solidFill>
                <a:latin typeface="IBM Plex Sans"/>
              </a:rPr>
              <a:t>Mesure, dans chaque classe, si les passagers qui notent mieux un service sont plus souvent satisfaits.</a:t>
            </a:r>
          </a:p>
        </p:txBody>
      </p:sp>
      <p:sp>
        <p:nvSpPr>
          <p:cNvPr id="7" name="Méthode 2"/>
          <p:cNvSpPr/>
          <p:nvPr/>
        </p:nvSpPr>
        <p:spPr>
          <a:xfrm>
            <a:off x="548640" y="3291840"/>
            <a:ext cx="4480560" cy="141732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56432"/>
            <a:ext cx="4023360" cy="548640"/>
          </a:xfrm>
          <a:prstGeom prst="rect">
            <a:avLst/>
          </a:prstGeom>
          <a:noFill/>
        </p:spPr>
        <p:txBody>
          <a:bodyPr wrap="square" anchor="t" lIns="0" rIns="0" tIns="0" bIns="0">
            <a:spAutoFit/>
          </a:bodyPr>
          <a:lstStyle/>
          <a:p>
            <a:pPr algn="l"/>
            <a:r>
              <a:rPr sz="1400" b="1">
                <a:solidFill>
                  <a:srgbClr val="0039FA"/>
                </a:solidFill>
                <a:latin typeface="IBM Plex Sans"/>
              </a:rPr>
              <a:t>Méthode 2 : à passager comparable (régression logistique)</a:t>
            </a:r>
          </a:p>
        </p:txBody>
      </p:sp>
      <p:sp>
        <p:nvSpPr>
          <p:cNvPr id="9" name="TextBox 8"/>
          <p:cNvSpPr txBox="1"/>
          <p:nvPr/>
        </p:nvSpPr>
        <p:spPr>
          <a:xfrm>
            <a:off x="777240" y="4005072"/>
            <a:ext cx="4023360" cy="640080"/>
          </a:xfrm>
          <a:prstGeom prst="rect">
            <a:avLst/>
          </a:prstGeom>
          <a:noFill/>
        </p:spPr>
        <p:txBody>
          <a:bodyPr wrap="square" anchor="t" lIns="0" rIns="0" tIns="0" bIns="0">
            <a:spAutoFit/>
          </a:bodyPr>
          <a:lstStyle/>
          <a:p>
            <a:pPr algn="l"/>
            <a:r>
              <a:rPr sz="1300" b="0">
                <a:solidFill>
                  <a:srgbClr val="1A1A1A"/>
                </a:solidFill>
                <a:latin typeface="IBM Plex Sans"/>
              </a:rPr>
              <a:t>Compare des passagers au même profil qui ne diffèrent que par la note d'un service. Donne l'effet propre du service.</a:t>
            </a:r>
          </a:p>
        </p:txBody>
      </p:sp>
      <p:sp>
        <p:nvSpPr>
          <p:cNvPr id="10" name="Message clé"/>
          <p:cNvSpPr/>
          <p:nvPr/>
        </p:nvSpPr>
        <p:spPr>
          <a:xfrm>
            <a:off x="548640" y="4983480"/>
            <a:ext cx="4480560" cy="914400"/>
          </a:xfrm>
          <a:prstGeom prst="roundRect">
            <a:avLst>
              <a:gd name="adj" fmla="val 8000"/>
            </a:avLst>
          </a:prstGeom>
          <a:solidFill>
            <a:srgbClr val="FF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20640"/>
            <a:ext cx="4023360" cy="685800"/>
          </a:xfrm>
          <a:prstGeom prst="rect">
            <a:avLst/>
          </a:prstGeom>
          <a:noFill/>
        </p:spPr>
        <p:txBody>
          <a:bodyPr wrap="square" anchor="t" lIns="0" rIns="0" tIns="0" bIns="0">
            <a:spAutoFit/>
          </a:bodyPr>
          <a:lstStyle/>
          <a:p>
            <a:pPr algn="l"/>
            <a:r>
              <a:rPr sz="1400" b="1">
                <a:solidFill>
                  <a:srgbClr val="1A1A1A"/>
                </a:solidFill>
                <a:latin typeface="IBM Plex Sans"/>
              </a:rPr>
              <a:t>Les deux méthodes donnent les deux mêmes priorités : wifi et embarquement en ligne.</a:t>
            </a:r>
          </a:p>
        </p:txBody>
      </p:sp>
      <p:sp>
        <p:nvSpPr>
          <p:cNvPr id="12" name="TextBox 11"/>
          <p:cNvSpPr txBox="1"/>
          <p:nvPr/>
        </p:nvSpPr>
        <p:spPr>
          <a:xfrm>
            <a:off x="5486400" y="1645920"/>
            <a:ext cx="6217920" cy="365760"/>
          </a:xfrm>
          <a:prstGeom prst="rect">
            <a:avLst/>
          </a:prstGeom>
          <a:noFill/>
        </p:spPr>
        <p:txBody>
          <a:bodyPr wrap="square" anchor="t" lIns="0" rIns="0" tIns="0" bIns="0">
            <a:spAutoFit/>
          </a:bodyPr>
          <a:lstStyle/>
          <a:p>
            <a:pPr algn="l"/>
            <a:r>
              <a:rPr sz="1500" b="1">
                <a:solidFill>
                  <a:srgbClr val="1A1A1A"/>
                </a:solidFill>
                <a:latin typeface="IBM Plex Sans"/>
              </a:rPr>
              <a:t>Chances d'être satisfait pour 1 point de note en plus (méthode 2)</a:t>
            </a:r>
          </a:p>
        </p:txBody>
      </p:sp>
      <p:graphicFrame>
        <p:nvGraphicFramePr>
          <p:cNvPr id="13" name="Graphique leviers"/>
          <p:cNvGraphicFramePr>
            <a:graphicFrameLocks noGrp="1"/>
          </p:cNvGraphicFramePr>
          <p:nvPr/>
        </p:nvGraphicFramePr>
        <p:xfrm>
          <a:off x="5303520" y="2057400"/>
          <a:ext cx="6400800" cy="3566160"/>
        </p:xfrm>
        <a:graphic>
          <a:graphicData uri="http://schemas.openxmlformats.org/drawingml/2006/chart">
            <c:chart xmlns:c="http://schemas.openxmlformats.org/drawingml/2006/chart" r:id="rId2"/>
          </a:graphicData>
        </a:graphic>
      </p:graphicFrame>
      <p:sp>
        <p:nvSpPr>
          <p:cNvPr id="14" name="Légende Les deux priorités"/>
          <p:cNvSpPr/>
          <p:nvPr/>
        </p:nvSpPr>
        <p:spPr>
          <a:xfrm>
            <a:off x="5532120" y="5715000"/>
            <a:ext cx="164592" cy="164592"/>
          </a:xfrm>
          <a:prstGeom prst="rect">
            <a:avLst/>
          </a:prstGeom>
          <a:solidFill>
            <a:srgbClr val="003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9864" y="5669280"/>
            <a:ext cx="2926080" cy="274320"/>
          </a:xfrm>
          <a:prstGeom prst="rect">
            <a:avLst/>
          </a:prstGeom>
          <a:noFill/>
        </p:spPr>
        <p:txBody>
          <a:bodyPr wrap="square" anchor="t" lIns="0" rIns="0" tIns="0" bIns="0">
            <a:spAutoFit/>
          </a:bodyPr>
          <a:lstStyle/>
          <a:p>
            <a:pPr algn="l"/>
            <a:r>
              <a:rPr sz="1200" b="0">
                <a:solidFill>
                  <a:srgbClr val="1A1A1A"/>
                </a:solidFill>
                <a:latin typeface="IBM Plex Sans"/>
              </a:rPr>
              <a:t>Les deux priorités</a:t>
            </a:r>
          </a:p>
        </p:txBody>
      </p:sp>
      <p:sp>
        <p:nvSpPr>
          <p:cNvPr id="16" name="Légende Troisième levier"/>
          <p:cNvSpPr/>
          <p:nvPr/>
        </p:nvSpPr>
        <p:spPr>
          <a:xfrm>
            <a:off x="7580375" y="5715000"/>
            <a:ext cx="164592" cy="164592"/>
          </a:xfrm>
          <a:prstGeom prst="rect">
            <a:avLst/>
          </a:prstGeom>
          <a:solidFill>
            <a:srgbClr val="7F9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19" y="5669280"/>
            <a:ext cx="2926080" cy="274320"/>
          </a:xfrm>
          <a:prstGeom prst="rect">
            <a:avLst/>
          </a:prstGeom>
          <a:noFill/>
        </p:spPr>
        <p:txBody>
          <a:bodyPr wrap="square" anchor="t" lIns="0" rIns="0" tIns="0" bIns="0">
            <a:spAutoFit/>
          </a:bodyPr>
          <a:lstStyle/>
          <a:p>
            <a:pPr algn="l"/>
            <a:r>
              <a:rPr sz="1200" b="0">
                <a:solidFill>
                  <a:srgbClr val="1A1A1A"/>
                </a:solidFill>
                <a:latin typeface="IBM Plex Sans"/>
              </a:rPr>
              <a:t>Troisième levier</a:t>
            </a:r>
          </a:p>
        </p:txBody>
      </p:sp>
      <p:sp>
        <p:nvSpPr>
          <p:cNvPr id="18" name="Légende Effet plus faible"/>
          <p:cNvSpPr/>
          <p:nvPr/>
        </p:nvSpPr>
        <p:spPr>
          <a:xfrm>
            <a:off x="9473184" y="5715000"/>
            <a:ext cx="164592" cy="164592"/>
          </a:xfrm>
          <a:prstGeom prst="rect">
            <a:avLst/>
          </a:prstGeom>
          <a:solidFill>
            <a:srgbClr val="BFC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10928" y="5669280"/>
            <a:ext cx="2926080" cy="274320"/>
          </a:xfrm>
          <a:prstGeom prst="rect">
            <a:avLst/>
          </a:prstGeom>
          <a:noFill/>
        </p:spPr>
        <p:txBody>
          <a:bodyPr wrap="square" anchor="t" lIns="0" rIns="0" tIns="0" bIns="0">
            <a:spAutoFit/>
          </a:bodyPr>
          <a:lstStyle/>
          <a:p>
            <a:pPr algn="l"/>
            <a:r>
              <a:rPr sz="1200" b="0">
                <a:solidFill>
                  <a:srgbClr val="1A1A1A"/>
                </a:solidFill>
                <a:latin typeface="IBM Plex Sans"/>
              </a:rPr>
              <a:t>Effet plus faible</a:t>
            </a:r>
          </a:p>
        </p:txBody>
      </p:sp>
      <p:sp>
        <p:nvSpPr>
          <p:cNvPr id="20"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21"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PARTIE 1 – CE QUI FAIT LA SATISFACTION</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Une note « correcte » ne suffit pas : il faut viser 5 sur 5</a:t>
            </a:r>
          </a:p>
        </p:txBody>
      </p:sp>
      <p:sp>
        <p:nvSpPr>
          <p:cNvPr id="4" name="TextBox 3"/>
          <p:cNvSpPr txBox="1"/>
          <p:nvPr/>
        </p:nvSpPr>
        <p:spPr>
          <a:xfrm>
            <a:off x="548640" y="1645920"/>
            <a:ext cx="6949440" cy="365760"/>
          </a:xfrm>
          <a:prstGeom prst="rect">
            <a:avLst/>
          </a:prstGeom>
          <a:noFill/>
        </p:spPr>
        <p:txBody>
          <a:bodyPr wrap="square" anchor="t" lIns="0" rIns="0" tIns="0" bIns="0">
            <a:spAutoFit/>
          </a:bodyPr>
          <a:lstStyle/>
          <a:p>
            <a:pPr algn="l"/>
            <a:r>
              <a:rPr sz="1500" b="1">
                <a:solidFill>
                  <a:srgbClr val="1A1A1A"/>
                </a:solidFill>
                <a:latin typeface="IBM Plex Sans"/>
              </a:rPr>
              <a:t>Part de passagers neutres ou insatisfaits selon la note donnée au service</a:t>
            </a:r>
          </a:p>
        </p:txBody>
      </p:sp>
      <p:graphicFrame>
        <p:nvGraphicFramePr>
          <p:cNvPr id="5" name="Graphique note 3 contre 5"/>
          <p:cNvGraphicFramePr>
            <a:graphicFrameLocks noGrp="1"/>
          </p:cNvGraphicFramePr>
          <p:nvPr/>
        </p:nvGraphicFramePr>
        <p:xfrm>
          <a:off x="457200" y="2057400"/>
          <a:ext cx="7132320" cy="3840480"/>
        </p:xfrm>
        <a:graphic>
          <a:graphicData uri="http://schemas.openxmlformats.org/drawingml/2006/chart">
            <c:chart xmlns:c="http://schemas.openxmlformats.org/drawingml/2006/chart" r:id="rId2"/>
          </a:graphicData>
        </a:graphic>
      </p:graphicFrame>
      <p:sp>
        <p:nvSpPr>
          <p:cNvPr id="6" name="Chiffre wifi"/>
          <p:cNvSpPr/>
          <p:nvPr/>
        </p:nvSpPr>
        <p:spPr>
          <a:xfrm>
            <a:off x="8046720" y="2057400"/>
            <a:ext cx="3611880" cy="173736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2194560"/>
            <a:ext cx="3200400" cy="731520"/>
          </a:xfrm>
          <a:prstGeom prst="rect">
            <a:avLst/>
          </a:prstGeom>
          <a:noFill/>
        </p:spPr>
        <p:txBody>
          <a:bodyPr wrap="square" anchor="t" lIns="0" rIns="0" tIns="0" bIns="0">
            <a:spAutoFit/>
          </a:bodyPr>
          <a:lstStyle/>
          <a:p>
            <a:pPr algn="l"/>
            <a:r>
              <a:rPr sz="3400" b="1">
                <a:solidFill>
                  <a:srgbClr val="0039FA"/>
                </a:solidFill>
                <a:latin typeface="IBM Plex Sans"/>
              </a:rPr>
              <a:t>81 % → 1 %</a:t>
            </a:r>
          </a:p>
        </p:txBody>
      </p:sp>
      <p:sp>
        <p:nvSpPr>
          <p:cNvPr id="8" name="TextBox 7"/>
          <p:cNvSpPr txBox="1"/>
          <p:nvPr/>
        </p:nvSpPr>
        <p:spPr>
          <a:xfrm>
            <a:off x="8275320" y="2971800"/>
            <a:ext cx="3200400" cy="731520"/>
          </a:xfrm>
          <a:prstGeom prst="rect">
            <a:avLst/>
          </a:prstGeom>
          <a:noFill/>
        </p:spPr>
        <p:txBody>
          <a:bodyPr wrap="square" anchor="t" lIns="0" rIns="0" tIns="0" bIns="0">
            <a:spAutoFit/>
          </a:bodyPr>
          <a:lstStyle/>
          <a:p>
            <a:pPr algn="l"/>
            <a:r>
              <a:rPr sz="1300" b="0">
                <a:solidFill>
                  <a:srgbClr val="1A1A1A"/>
                </a:solidFill>
                <a:latin typeface="IBM Plex Sans"/>
              </a:rPr>
              <a:t>de neutres ou insatisfaits quand le wifi passe de 3 à 5 sur 5</a:t>
            </a:r>
          </a:p>
        </p:txBody>
      </p:sp>
      <p:sp>
        <p:nvSpPr>
          <p:cNvPr id="9" name="Message clé"/>
          <p:cNvSpPr/>
          <p:nvPr/>
        </p:nvSpPr>
        <p:spPr>
          <a:xfrm>
            <a:off x="8046720" y="4023360"/>
            <a:ext cx="3611880" cy="1874519"/>
          </a:xfrm>
          <a:prstGeom prst="roundRect">
            <a:avLst>
              <a:gd name="adj" fmla="val 8000"/>
            </a:avLst>
          </a:prstGeom>
          <a:solidFill>
            <a:srgbClr val="FF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4160520"/>
            <a:ext cx="3200400" cy="1645920"/>
          </a:xfrm>
          <a:prstGeom prst="rect">
            <a:avLst/>
          </a:prstGeom>
          <a:noFill/>
        </p:spPr>
        <p:txBody>
          <a:bodyPr wrap="square" anchor="t" lIns="0" rIns="0" tIns="0" bIns="0">
            <a:spAutoFit/>
          </a:bodyPr>
          <a:lstStyle/>
          <a:p>
            <a:pPr algn="l">
              <a:spcAft>
                <a:spcPts val="400"/>
              </a:spcAft>
            </a:pPr>
            <a:r>
              <a:rPr sz="1300" b="1">
                <a:solidFill>
                  <a:srgbClr val="1A1A1A"/>
                </a:solidFill>
                <a:latin typeface="IBM Plex Sans"/>
              </a:rPr>
              <a:t>Pour la plupart des services</a:t>
            </a:r>
          </a:p>
          <a:p>
            <a:pPr algn="l">
              <a:spcAft>
                <a:spcPts val="400"/>
              </a:spcAft>
            </a:pPr>
            <a:r>
              <a:rPr sz="1300" b="0">
                <a:solidFill>
                  <a:srgbClr val="1A1A1A"/>
                </a:solidFill>
                <a:latin typeface="IBM Plex Sans"/>
              </a:rPr>
              <a:t>une note de 3 laisse autant de passagers neutres ou insatisfaits qu'une mauvaise note. Seules les notes 4 et 5 rendent satisfait.</a:t>
            </a:r>
          </a:p>
        </p:txBody>
      </p:sp>
      <p:sp>
        <p:nvSpPr>
          <p:cNvPr id="11"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12"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PARTIE 1 – RECOMMANDATIONS</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Où investir le budget</a:t>
            </a:r>
          </a:p>
        </p:txBody>
      </p:sp>
      <p:sp>
        <p:nvSpPr>
          <p:cNvPr id="4" name="Recommandation 1"/>
          <p:cNvSpPr/>
          <p:nvPr/>
        </p:nvSpPr>
        <p:spPr>
          <a:xfrm>
            <a:off x="548640" y="1691640"/>
            <a:ext cx="3520440" cy="201168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stille 1"/>
          <p:cNvSpPr/>
          <p:nvPr/>
        </p:nvSpPr>
        <p:spPr>
          <a:xfrm>
            <a:off x="777240" y="1920240"/>
            <a:ext cx="457200" cy="457200"/>
          </a:xfrm>
          <a:prstGeom prst="ellipse">
            <a:avLst/>
          </a:prstGeom>
          <a:solidFill>
            <a:srgbClr val="0039FA"/>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IBM Plex Sans"/>
              </a:rPr>
              <a:t>1</a:t>
            </a:r>
          </a:p>
        </p:txBody>
      </p:sp>
      <p:sp>
        <p:nvSpPr>
          <p:cNvPr id="6" name="TextBox 5"/>
          <p:cNvSpPr txBox="1"/>
          <p:nvPr/>
        </p:nvSpPr>
        <p:spPr>
          <a:xfrm>
            <a:off x="1417319" y="193852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Embarquement en ligne</a:t>
            </a:r>
          </a:p>
        </p:txBody>
      </p:sp>
      <p:sp>
        <p:nvSpPr>
          <p:cNvPr id="7" name="TextBox 6"/>
          <p:cNvSpPr txBox="1"/>
          <p:nvPr/>
        </p:nvSpPr>
        <p:spPr>
          <a:xfrm>
            <a:off x="777240" y="2560320"/>
            <a:ext cx="3108960" cy="1097280"/>
          </a:xfrm>
          <a:prstGeom prst="rect">
            <a:avLst/>
          </a:prstGeom>
          <a:noFill/>
        </p:spPr>
        <p:txBody>
          <a:bodyPr wrap="square" anchor="t" lIns="0" rIns="0" tIns="0" bIns="0">
            <a:spAutoFit/>
          </a:bodyPr>
          <a:lstStyle/>
          <a:p>
            <a:pPr algn="l">
              <a:spcAft>
                <a:spcPts val="300"/>
              </a:spcAft>
            </a:pPr>
            <a:r>
              <a:rPr sz="1300" b="0">
                <a:solidFill>
                  <a:srgbClr val="1A1A1A"/>
                </a:solidFill>
                <a:latin typeface="IBM Plex Sans"/>
              </a:rPr>
              <a:t>Fort dans les 3 classes</a:t>
            </a:r>
          </a:p>
          <a:p>
            <a:pPr algn="l">
              <a:spcAft>
                <a:spcPts val="300"/>
              </a:spcAft>
            </a:pPr>
            <a:r>
              <a:rPr sz="1300" b="0">
                <a:solidFill>
                  <a:srgbClr val="555555"/>
                </a:solidFill>
                <a:latin typeface="IBM Plex Sans"/>
              </a:rPr>
              <a:t>Levier : parcours digital</a:t>
            </a:r>
          </a:p>
          <a:p>
            <a:pPr algn="l">
              <a:spcAft>
                <a:spcPts val="300"/>
              </a:spcAft>
            </a:pPr>
            <a:r>
              <a:rPr sz="1300" b="0">
                <a:solidFill>
                  <a:srgbClr val="555555"/>
                </a:solidFill>
                <a:latin typeface="IBM Plex Sans"/>
              </a:rPr>
              <a:t>Cause : plausible, à tester</a:t>
            </a:r>
          </a:p>
        </p:txBody>
      </p:sp>
      <p:sp>
        <p:nvSpPr>
          <p:cNvPr id="8" name="Recommandation 2"/>
          <p:cNvSpPr/>
          <p:nvPr/>
        </p:nvSpPr>
        <p:spPr>
          <a:xfrm>
            <a:off x="4297679" y="1691640"/>
            <a:ext cx="3520440" cy="201168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stille 2"/>
          <p:cNvSpPr/>
          <p:nvPr/>
        </p:nvSpPr>
        <p:spPr>
          <a:xfrm>
            <a:off x="4526279" y="1920240"/>
            <a:ext cx="457200" cy="457200"/>
          </a:xfrm>
          <a:prstGeom prst="ellipse">
            <a:avLst/>
          </a:prstGeom>
          <a:solidFill>
            <a:srgbClr val="0039FA"/>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IBM Plex Sans"/>
              </a:rPr>
              <a:t>2</a:t>
            </a:r>
          </a:p>
        </p:txBody>
      </p:sp>
      <p:sp>
        <p:nvSpPr>
          <p:cNvPr id="10" name="TextBox 9"/>
          <p:cNvSpPr txBox="1"/>
          <p:nvPr/>
        </p:nvSpPr>
        <p:spPr>
          <a:xfrm>
            <a:off x="5166359" y="193852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Wifi en Eco et Eco Plus</a:t>
            </a:r>
          </a:p>
        </p:txBody>
      </p:sp>
      <p:sp>
        <p:nvSpPr>
          <p:cNvPr id="11" name="TextBox 10"/>
          <p:cNvSpPr txBox="1"/>
          <p:nvPr/>
        </p:nvSpPr>
        <p:spPr>
          <a:xfrm>
            <a:off x="4526279" y="2560320"/>
            <a:ext cx="3108960" cy="1097280"/>
          </a:xfrm>
          <a:prstGeom prst="rect">
            <a:avLst/>
          </a:prstGeom>
          <a:noFill/>
        </p:spPr>
        <p:txBody>
          <a:bodyPr wrap="square" anchor="t" lIns="0" rIns="0" tIns="0" bIns="0">
            <a:spAutoFit/>
          </a:bodyPr>
          <a:lstStyle/>
          <a:p>
            <a:pPr algn="l">
              <a:spcAft>
                <a:spcPts val="300"/>
              </a:spcAft>
            </a:pPr>
            <a:r>
              <a:rPr sz="1300" b="0">
                <a:solidFill>
                  <a:srgbClr val="1A1A1A"/>
                </a:solidFill>
                <a:latin typeface="IBM Plex Sans"/>
              </a:rPr>
              <a:t>1er levier pour 83 % des neutres ou insatisfaits</a:t>
            </a:r>
          </a:p>
          <a:p>
            <a:pPr algn="l">
              <a:spcAft>
                <a:spcPts val="300"/>
              </a:spcAft>
            </a:pPr>
            <a:r>
              <a:rPr sz="1300" b="0">
                <a:solidFill>
                  <a:srgbClr val="555555"/>
                </a:solidFill>
                <a:latin typeface="IBM Plex Sans"/>
              </a:rPr>
              <a:t>Levier : équipement des avions</a:t>
            </a:r>
          </a:p>
          <a:p>
            <a:pPr algn="l">
              <a:spcAft>
                <a:spcPts val="300"/>
              </a:spcAft>
            </a:pPr>
            <a:r>
              <a:rPr sz="1300" b="0">
                <a:solidFill>
                  <a:srgbClr val="555555"/>
                </a:solidFill>
                <a:latin typeface="IBM Plex Sans"/>
              </a:rPr>
              <a:t>Cause : plausible, à tester</a:t>
            </a:r>
          </a:p>
        </p:txBody>
      </p:sp>
      <p:sp>
        <p:nvSpPr>
          <p:cNvPr id="12" name="Recommandation 3"/>
          <p:cNvSpPr/>
          <p:nvPr/>
        </p:nvSpPr>
        <p:spPr>
          <a:xfrm>
            <a:off x="8046719" y="1691640"/>
            <a:ext cx="3520440" cy="201168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astille 3"/>
          <p:cNvSpPr/>
          <p:nvPr/>
        </p:nvSpPr>
        <p:spPr>
          <a:xfrm>
            <a:off x="8275319" y="1920240"/>
            <a:ext cx="457200" cy="457200"/>
          </a:xfrm>
          <a:prstGeom prst="ellipse">
            <a:avLst/>
          </a:prstGeom>
          <a:solidFill>
            <a:srgbClr val="7F9CF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IBM Plex Sans"/>
              </a:rPr>
              <a:t>3</a:t>
            </a:r>
          </a:p>
        </p:txBody>
      </p:sp>
      <p:sp>
        <p:nvSpPr>
          <p:cNvPr id="14" name="TextBox 13"/>
          <p:cNvSpPr txBox="1"/>
          <p:nvPr/>
        </p:nvSpPr>
        <p:spPr>
          <a:xfrm>
            <a:off x="8915399" y="193852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Réservation en ligne</a:t>
            </a:r>
          </a:p>
        </p:txBody>
      </p:sp>
      <p:sp>
        <p:nvSpPr>
          <p:cNvPr id="15" name="TextBox 14"/>
          <p:cNvSpPr txBox="1"/>
          <p:nvPr/>
        </p:nvSpPr>
        <p:spPr>
          <a:xfrm>
            <a:off x="8275319" y="2560320"/>
            <a:ext cx="3108960" cy="1097280"/>
          </a:xfrm>
          <a:prstGeom prst="rect">
            <a:avLst/>
          </a:prstGeom>
          <a:noFill/>
        </p:spPr>
        <p:txBody>
          <a:bodyPr wrap="square" anchor="t" lIns="0" rIns="0" tIns="0" bIns="0">
            <a:spAutoFit/>
          </a:bodyPr>
          <a:lstStyle/>
          <a:p>
            <a:pPr algn="l">
              <a:spcAft>
                <a:spcPts val="300"/>
              </a:spcAft>
            </a:pPr>
            <a:r>
              <a:rPr sz="1300" b="0">
                <a:solidFill>
                  <a:srgbClr val="1A1A1A"/>
                </a:solidFill>
                <a:latin typeface="IBM Plex Sans"/>
              </a:rPr>
              <a:t>Décisive pour les voyageurs de loisirs en Eco</a:t>
            </a:r>
          </a:p>
          <a:p>
            <a:pPr algn="l">
              <a:spcAft>
                <a:spcPts val="300"/>
              </a:spcAft>
            </a:pPr>
            <a:r>
              <a:rPr sz="1300" b="0">
                <a:solidFill>
                  <a:srgbClr val="555555"/>
                </a:solidFill>
                <a:latin typeface="IBM Plex Sans"/>
              </a:rPr>
              <a:t>Levier : site et application</a:t>
            </a:r>
          </a:p>
          <a:p>
            <a:pPr algn="l">
              <a:spcAft>
                <a:spcPts val="300"/>
              </a:spcAft>
            </a:pPr>
            <a:r>
              <a:rPr sz="1300" b="0">
                <a:solidFill>
                  <a:srgbClr val="555555"/>
                </a:solidFill>
                <a:latin typeface="IBM Plex Sans"/>
              </a:rPr>
              <a:t>Cause : plausible</a:t>
            </a:r>
          </a:p>
        </p:txBody>
      </p:sp>
      <p:sp>
        <p:nvSpPr>
          <p:cNvPr id="16" name="Recommandation 4"/>
          <p:cNvSpPr/>
          <p:nvPr/>
        </p:nvSpPr>
        <p:spPr>
          <a:xfrm>
            <a:off x="548640" y="3931920"/>
            <a:ext cx="3520440"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stille 4"/>
          <p:cNvSpPr/>
          <p:nvPr/>
        </p:nvSpPr>
        <p:spPr>
          <a:xfrm>
            <a:off x="777240" y="4160520"/>
            <a:ext cx="457200" cy="457200"/>
          </a:xfrm>
          <a:prstGeom prst="ellipse">
            <a:avLst/>
          </a:prstGeom>
          <a:solidFill>
            <a:srgbClr val="BFC5CF"/>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1A1A1A"/>
                </a:solidFill>
                <a:latin typeface="IBM Plex Sans"/>
              </a:rPr>
              <a:t>4</a:t>
            </a:r>
          </a:p>
        </p:txBody>
      </p:sp>
      <p:sp>
        <p:nvSpPr>
          <p:cNvPr id="18" name="TextBox 17"/>
          <p:cNvSpPr txBox="1"/>
          <p:nvPr/>
        </p:nvSpPr>
        <p:spPr>
          <a:xfrm>
            <a:off x="1417319" y="417880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Confort cabine</a:t>
            </a:r>
          </a:p>
        </p:txBody>
      </p:sp>
      <p:sp>
        <p:nvSpPr>
          <p:cNvPr id="19" name="TextBox 18"/>
          <p:cNvSpPr txBox="1"/>
          <p:nvPr/>
        </p:nvSpPr>
        <p:spPr>
          <a:xfrm>
            <a:off x="777240" y="4800600"/>
            <a:ext cx="3108960" cy="1097280"/>
          </a:xfrm>
          <a:prstGeom prst="rect">
            <a:avLst/>
          </a:prstGeom>
          <a:noFill/>
        </p:spPr>
        <p:txBody>
          <a:bodyPr wrap="square" anchor="t" lIns="0" rIns="0" tIns="0" bIns="0">
            <a:spAutoFit/>
          </a:bodyPr>
          <a:lstStyle/>
          <a:p>
            <a:pPr algn="l">
              <a:spcAft>
                <a:spcPts val="300"/>
              </a:spcAft>
            </a:pPr>
            <a:r>
              <a:rPr sz="1300" b="0">
                <a:solidFill>
                  <a:srgbClr val="1A1A1A"/>
                </a:solidFill>
                <a:latin typeface="IBM Plex Sans"/>
              </a:rPr>
              <a:t>Compte surtout en Business</a:t>
            </a:r>
          </a:p>
          <a:p>
            <a:pPr algn="l">
              <a:spcAft>
                <a:spcPts val="300"/>
              </a:spcAft>
            </a:pPr>
            <a:r>
              <a:rPr sz="1300" b="0">
                <a:solidFill>
                  <a:srgbClr val="555555"/>
                </a:solidFill>
                <a:latin typeface="IBM Plex Sans"/>
              </a:rPr>
              <a:t>Levier : coûteux</a:t>
            </a:r>
          </a:p>
          <a:p>
            <a:pPr algn="l">
              <a:spcAft>
                <a:spcPts val="300"/>
              </a:spcAft>
            </a:pPr>
            <a:r>
              <a:rPr sz="1300" b="0">
                <a:solidFill>
                  <a:srgbClr val="555555"/>
                </a:solidFill>
                <a:latin typeface="IBM Plex Sans"/>
              </a:rPr>
              <a:t>Réserver ce budget à la Business</a:t>
            </a:r>
          </a:p>
        </p:txBody>
      </p:sp>
      <p:sp>
        <p:nvSpPr>
          <p:cNvPr id="20" name="Recommandation 5"/>
          <p:cNvSpPr/>
          <p:nvPr/>
        </p:nvSpPr>
        <p:spPr>
          <a:xfrm>
            <a:off x="4297679" y="3931920"/>
            <a:ext cx="3520440"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astille 5"/>
          <p:cNvSpPr/>
          <p:nvPr/>
        </p:nvSpPr>
        <p:spPr>
          <a:xfrm>
            <a:off x="4526279" y="4160520"/>
            <a:ext cx="457200" cy="457200"/>
          </a:xfrm>
          <a:prstGeom prst="ellipse">
            <a:avLst/>
          </a:prstGeom>
          <a:solidFill>
            <a:srgbClr val="BFC5CF"/>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1A1A1A"/>
                </a:solidFill>
                <a:latin typeface="IBM Plex Sans"/>
              </a:rPr>
              <a:t>5</a:t>
            </a:r>
          </a:p>
        </p:txBody>
      </p:sp>
      <p:sp>
        <p:nvSpPr>
          <p:cNvPr id="22" name="TextBox 21"/>
          <p:cNvSpPr txBox="1"/>
          <p:nvPr/>
        </p:nvSpPr>
        <p:spPr>
          <a:xfrm>
            <a:off x="5166359" y="417880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Ponctualité</a:t>
            </a:r>
          </a:p>
        </p:txBody>
      </p:sp>
      <p:sp>
        <p:nvSpPr>
          <p:cNvPr id="23" name="TextBox 22"/>
          <p:cNvSpPr txBox="1"/>
          <p:nvPr/>
        </p:nvSpPr>
        <p:spPr>
          <a:xfrm>
            <a:off x="4526279" y="4800600"/>
            <a:ext cx="3108960" cy="1097280"/>
          </a:xfrm>
          <a:prstGeom prst="rect">
            <a:avLst/>
          </a:prstGeom>
          <a:noFill/>
        </p:spPr>
        <p:txBody>
          <a:bodyPr wrap="square" anchor="t" lIns="0" rIns="0" tIns="0" bIns="0">
            <a:spAutoFit/>
          </a:bodyPr>
          <a:lstStyle/>
          <a:p>
            <a:pPr algn="l">
              <a:spcAft>
                <a:spcPts val="300"/>
              </a:spcAft>
            </a:pPr>
            <a:r>
              <a:rPr sz="1300" b="0">
                <a:solidFill>
                  <a:srgbClr val="1A1A1A"/>
                </a:solidFill>
                <a:latin typeface="IBM Plex Sans"/>
              </a:rPr>
              <a:t>Effet de seuil à 15 minutes</a:t>
            </a:r>
          </a:p>
          <a:p>
            <a:pPr algn="l">
              <a:spcAft>
                <a:spcPts val="300"/>
              </a:spcAft>
            </a:pPr>
            <a:r>
              <a:rPr sz="1300" b="0">
                <a:solidFill>
                  <a:srgbClr val="555555"/>
                </a:solidFill>
                <a:latin typeface="IBM Plex Sans"/>
              </a:rPr>
              <a:t>Levier : en partie (opérations)</a:t>
            </a:r>
          </a:p>
          <a:p>
            <a:pPr algn="l">
              <a:spcAft>
                <a:spcPts val="300"/>
              </a:spcAft>
            </a:pPr>
            <a:r>
              <a:rPr sz="1300" b="0">
                <a:solidFill>
                  <a:srgbClr val="555555"/>
                </a:solidFill>
                <a:latin typeface="IBM Plex Sans"/>
              </a:rPr>
              <a:t>Cause : probable</a:t>
            </a:r>
          </a:p>
        </p:txBody>
      </p:sp>
      <p:sp>
        <p:nvSpPr>
          <p:cNvPr id="24" name="Recommandation 6"/>
          <p:cNvSpPr/>
          <p:nvPr/>
        </p:nvSpPr>
        <p:spPr>
          <a:xfrm>
            <a:off x="8046719" y="3931920"/>
            <a:ext cx="3520440"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astille 6"/>
          <p:cNvSpPr/>
          <p:nvPr/>
        </p:nvSpPr>
        <p:spPr>
          <a:xfrm>
            <a:off x="8275319" y="4160520"/>
            <a:ext cx="457200" cy="457200"/>
          </a:xfrm>
          <a:prstGeom prst="ellipse">
            <a:avLst/>
          </a:prstGeom>
          <a:solidFill>
            <a:srgbClr val="BFC5CF"/>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1A1A1A"/>
                </a:solidFill>
                <a:latin typeface="IBM Plex Sans"/>
              </a:rPr>
              <a:t>6</a:t>
            </a:r>
          </a:p>
        </p:txBody>
      </p:sp>
      <p:sp>
        <p:nvSpPr>
          <p:cNvPr id="26" name="TextBox 25"/>
          <p:cNvSpPr txBox="1"/>
          <p:nvPr/>
        </p:nvSpPr>
        <p:spPr>
          <a:xfrm>
            <a:off x="8915399" y="417880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Services de base</a:t>
            </a:r>
          </a:p>
        </p:txBody>
      </p:sp>
      <p:sp>
        <p:nvSpPr>
          <p:cNvPr id="27" name="TextBox 26"/>
          <p:cNvSpPr txBox="1"/>
          <p:nvPr/>
        </p:nvSpPr>
        <p:spPr>
          <a:xfrm>
            <a:off x="8275319" y="4800600"/>
            <a:ext cx="3108960" cy="1097280"/>
          </a:xfrm>
          <a:prstGeom prst="rect">
            <a:avLst/>
          </a:prstGeom>
          <a:noFill/>
        </p:spPr>
        <p:txBody>
          <a:bodyPr wrap="square" anchor="t" lIns="0" rIns="0" tIns="0" bIns="0">
            <a:spAutoFit/>
          </a:bodyPr>
          <a:lstStyle/>
          <a:p>
            <a:pPr algn="l">
              <a:spcAft>
                <a:spcPts val="300"/>
              </a:spcAft>
            </a:pPr>
            <a:r>
              <a:rPr sz="1300" b="0">
                <a:solidFill>
                  <a:srgbClr val="1A1A1A"/>
                </a:solidFill>
                <a:latin typeface="IBM Plex Sans"/>
              </a:rPr>
              <a:t>Propreté, enregistrement</a:t>
            </a:r>
          </a:p>
          <a:p>
            <a:pPr algn="l">
              <a:spcAft>
                <a:spcPts val="300"/>
              </a:spcAft>
            </a:pPr>
            <a:r>
              <a:rPr sz="1300" b="0">
                <a:solidFill>
                  <a:srgbClr val="555555"/>
                </a:solidFill>
                <a:latin typeface="IBM Plex Sans"/>
              </a:rPr>
              <a:t>Levier : oui</a:t>
            </a:r>
          </a:p>
          <a:p>
            <a:pPr algn="l">
              <a:spcAft>
                <a:spcPts val="300"/>
              </a:spcAft>
            </a:pPr>
            <a:r>
              <a:rPr sz="1300" b="0">
                <a:solidFill>
                  <a:srgbClr val="555555"/>
                </a:solidFill>
                <a:latin typeface="IBM Plex Sans"/>
              </a:rPr>
              <a:t>Maintenir le niveau, sans surinvestir</a:t>
            </a:r>
          </a:p>
        </p:txBody>
      </p:sp>
      <p:sp>
        <p:nvSpPr>
          <p:cNvPr id="28" name="Note"/>
          <p:cNvSpPr txBox="1"/>
          <p:nvPr/>
        </p:nvSpPr>
        <p:spPr>
          <a:xfrm>
            <a:off x="548640" y="6080760"/>
            <a:ext cx="11064240" cy="320040"/>
          </a:xfrm>
          <a:prstGeom prst="rect">
            <a:avLst/>
          </a:prstGeom>
          <a:noFill/>
        </p:spPr>
        <p:txBody>
          <a:bodyPr wrap="square" anchor="t" lIns="0" rIns="0" tIns="0" bIns="0">
            <a:spAutoFit/>
          </a:bodyPr>
          <a:lstStyle/>
          <a:p>
            <a:pPr algn="l"/>
            <a:r>
              <a:rPr sz="1100" b="0">
                <a:solidFill>
                  <a:srgbClr val="555555"/>
                </a:solidFill>
                <a:latin typeface="IBM Plex Sans"/>
              </a:rPr>
              <a:t>Les notes et la satisfaction viennent du même questionnaire : un lien statistique n'est pas forcément une cause. D'où un test avant d'investir.</a:t>
            </a:r>
          </a:p>
        </p:txBody>
      </p:sp>
      <p:sp>
        <p:nvSpPr>
          <p:cNvPr id="29"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30"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PARTIE 2 – REPÉRER LES PASSAGERS NEUTRES OU INSATISFAITS</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Les contraintes des équipes à l'arrivée</a:t>
            </a:r>
          </a:p>
        </p:txBody>
      </p:sp>
      <p:sp>
        <p:nvSpPr>
          <p:cNvPr id="4" name="Contrainte 1"/>
          <p:cNvSpPr/>
          <p:nvPr/>
        </p:nvSpPr>
        <p:spPr>
          <a:xfrm>
            <a:off x="548640" y="1691640"/>
            <a:ext cx="2606040" cy="210312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2194560" cy="731520"/>
          </a:xfrm>
          <a:prstGeom prst="rect">
            <a:avLst/>
          </a:prstGeom>
          <a:noFill/>
        </p:spPr>
        <p:txBody>
          <a:bodyPr wrap="square" anchor="t" lIns="0" rIns="0" tIns="0" bIns="0">
            <a:spAutoFit/>
          </a:bodyPr>
          <a:lstStyle/>
          <a:p>
            <a:pPr algn="l"/>
            <a:r>
              <a:rPr sz="3600" b="1">
                <a:solidFill>
                  <a:srgbClr val="0039FA"/>
                </a:solidFill>
                <a:latin typeface="IBM Plex Sans"/>
              </a:rPr>
              <a:t>40 €</a:t>
            </a:r>
          </a:p>
        </p:txBody>
      </p:sp>
      <p:sp>
        <p:nvSpPr>
          <p:cNvPr id="6" name="TextBox 5"/>
          <p:cNvSpPr txBox="1"/>
          <p:nvPr/>
        </p:nvSpPr>
        <p:spPr>
          <a:xfrm>
            <a:off x="777240" y="2697480"/>
            <a:ext cx="2194560" cy="1005840"/>
          </a:xfrm>
          <a:prstGeom prst="rect">
            <a:avLst/>
          </a:prstGeom>
          <a:noFill/>
        </p:spPr>
        <p:txBody>
          <a:bodyPr wrap="square" anchor="t" lIns="0" rIns="0" tIns="0" bIns="0">
            <a:spAutoFit/>
          </a:bodyPr>
          <a:lstStyle/>
          <a:p>
            <a:pPr algn="l"/>
            <a:r>
              <a:rPr sz="1300" b="0">
                <a:solidFill>
                  <a:srgbClr val="1A1A1A"/>
                </a:solidFill>
                <a:latin typeface="IBM Plex Sans"/>
              </a:rPr>
              <a:t>coût d'une approche</a:t>
            </a:r>
          </a:p>
        </p:txBody>
      </p:sp>
      <p:sp>
        <p:nvSpPr>
          <p:cNvPr id="7" name="Contrainte 2"/>
          <p:cNvSpPr/>
          <p:nvPr/>
        </p:nvSpPr>
        <p:spPr>
          <a:xfrm>
            <a:off x="3364992" y="1691640"/>
            <a:ext cx="2606040" cy="210312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874519"/>
            <a:ext cx="2194560" cy="731520"/>
          </a:xfrm>
          <a:prstGeom prst="rect">
            <a:avLst/>
          </a:prstGeom>
          <a:noFill/>
        </p:spPr>
        <p:txBody>
          <a:bodyPr wrap="square" anchor="t" lIns="0" rIns="0" tIns="0" bIns="0">
            <a:spAutoFit/>
          </a:bodyPr>
          <a:lstStyle/>
          <a:p>
            <a:pPr algn="l"/>
            <a:r>
              <a:rPr sz="3600" b="1">
                <a:solidFill>
                  <a:srgbClr val="0039FA"/>
                </a:solidFill>
                <a:latin typeface="IBM Plex Sans"/>
              </a:rPr>
              <a:t>100 €</a:t>
            </a:r>
          </a:p>
        </p:txBody>
      </p:sp>
      <p:sp>
        <p:nvSpPr>
          <p:cNvPr id="9" name="TextBox 8"/>
          <p:cNvSpPr txBox="1"/>
          <p:nvPr/>
        </p:nvSpPr>
        <p:spPr>
          <a:xfrm>
            <a:off x="3593592" y="2697480"/>
            <a:ext cx="2194560" cy="1005840"/>
          </a:xfrm>
          <a:prstGeom prst="rect">
            <a:avLst/>
          </a:prstGeom>
          <a:noFill/>
        </p:spPr>
        <p:txBody>
          <a:bodyPr wrap="square" anchor="t" lIns="0" rIns="0" tIns="0" bIns="0">
            <a:spAutoFit/>
          </a:bodyPr>
          <a:lstStyle/>
          <a:p>
            <a:pPr algn="l"/>
            <a:r>
              <a:rPr sz="1300" b="0">
                <a:solidFill>
                  <a:srgbClr val="1A1A1A"/>
                </a:solidFill>
                <a:latin typeface="IBM Plex Sans"/>
              </a:rPr>
              <a:t>valeur moyenne d'un passager neutre ou insatisfait récupéré</a:t>
            </a:r>
          </a:p>
        </p:txBody>
      </p:sp>
      <p:sp>
        <p:nvSpPr>
          <p:cNvPr id="10" name="Contrainte 3"/>
          <p:cNvSpPr/>
          <p:nvPr/>
        </p:nvSpPr>
        <p:spPr>
          <a:xfrm>
            <a:off x="6181344" y="1691640"/>
            <a:ext cx="2606040" cy="210312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1874519"/>
            <a:ext cx="2194560" cy="731520"/>
          </a:xfrm>
          <a:prstGeom prst="rect">
            <a:avLst/>
          </a:prstGeom>
          <a:noFill/>
        </p:spPr>
        <p:txBody>
          <a:bodyPr wrap="square" anchor="t" lIns="0" rIns="0" tIns="0" bIns="0">
            <a:spAutoFit/>
          </a:bodyPr>
          <a:lstStyle/>
          <a:p>
            <a:pPr algn="l"/>
            <a:r>
              <a:rPr sz="3600" b="1">
                <a:solidFill>
                  <a:srgbClr val="0039FA"/>
                </a:solidFill>
                <a:latin typeface="IBM Plex Sans"/>
              </a:rPr>
              <a:t>1 sur 10</a:t>
            </a:r>
          </a:p>
        </p:txBody>
      </p:sp>
      <p:sp>
        <p:nvSpPr>
          <p:cNvPr id="12" name="TextBox 11"/>
          <p:cNvSpPr txBox="1"/>
          <p:nvPr/>
        </p:nvSpPr>
        <p:spPr>
          <a:xfrm>
            <a:off x="6409944" y="2697480"/>
            <a:ext cx="2194560" cy="1005840"/>
          </a:xfrm>
          <a:prstGeom prst="rect">
            <a:avLst/>
          </a:prstGeom>
          <a:noFill/>
        </p:spPr>
        <p:txBody>
          <a:bodyPr wrap="square" anchor="t" lIns="0" rIns="0" tIns="0" bIns="0">
            <a:spAutoFit/>
          </a:bodyPr>
          <a:lstStyle/>
          <a:p>
            <a:pPr algn="l"/>
            <a:r>
              <a:rPr sz="1300" b="0">
                <a:solidFill>
                  <a:srgbClr val="1A1A1A"/>
                </a:solidFill>
                <a:latin typeface="IBM Plex Sans"/>
              </a:rPr>
              <a:t>passagers que les équipes peuvent approcher</a:t>
            </a:r>
          </a:p>
        </p:txBody>
      </p:sp>
      <p:sp>
        <p:nvSpPr>
          <p:cNvPr id="13" name="Contrainte 4"/>
          <p:cNvSpPr/>
          <p:nvPr/>
        </p:nvSpPr>
        <p:spPr>
          <a:xfrm>
            <a:off x="8997696" y="1691640"/>
            <a:ext cx="2606040" cy="2103120"/>
          </a:xfrm>
          <a:prstGeom prst="roundRect">
            <a:avLst>
              <a:gd name="adj" fmla="val 8000"/>
            </a:avLst>
          </a:prstGeom>
          <a:solidFill>
            <a:srgbClr val="FF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26296" y="1874519"/>
            <a:ext cx="2194560" cy="731520"/>
          </a:xfrm>
          <a:prstGeom prst="rect">
            <a:avLst/>
          </a:prstGeom>
          <a:noFill/>
        </p:spPr>
        <p:txBody>
          <a:bodyPr wrap="square" anchor="t" lIns="0" rIns="0" tIns="0" bIns="0">
            <a:spAutoFit/>
          </a:bodyPr>
          <a:lstStyle/>
          <a:p>
            <a:pPr algn="l"/>
            <a:r>
              <a:rPr sz="3600" b="1">
                <a:solidFill>
                  <a:srgbClr val="FF5F39"/>
                </a:solidFill>
                <a:latin typeface="IBM Plex Sans"/>
              </a:rPr>
              <a:t>40 %</a:t>
            </a:r>
          </a:p>
        </p:txBody>
      </p:sp>
      <p:sp>
        <p:nvSpPr>
          <p:cNvPr id="15" name="TextBox 14"/>
          <p:cNvSpPr txBox="1"/>
          <p:nvPr/>
        </p:nvSpPr>
        <p:spPr>
          <a:xfrm>
            <a:off x="9226296" y="2697480"/>
            <a:ext cx="2194560" cy="1005840"/>
          </a:xfrm>
          <a:prstGeom prst="rect">
            <a:avLst/>
          </a:prstGeom>
          <a:noFill/>
        </p:spPr>
        <p:txBody>
          <a:bodyPr wrap="square" anchor="t" lIns="0" rIns="0" tIns="0" bIns="0">
            <a:spAutoFit/>
          </a:bodyPr>
          <a:lstStyle/>
          <a:p>
            <a:pPr algn="l"/>
            <a:r>
              <a:rPr sz="1300" b="0">
                <a:solidFill>
                  <a:srgbClr val="1A1A1A"/>
                </a:solidFill>
                <a:latin typeface="IBM Plex Sans"/>
              </a:rPr>
              <a:t>seuil de rentabilité : part de neutres ou insatisfaits nécessaire parmi les approchés</a:t>
            </a:r>
          </a:p>
        </p:txBody>
      </p:sp>
      <p:sp>
        <p:nvSpPr>
          <p:cNvPr id="16" name="TextBox 15"/>
          <p:cNvSpPr txBox="1"/>
          <p:nvPr/>
        </p:nvSpPr>
        <p:spPr>
          <a:xfrm>
            <a:off x="548640" y="4160520"/>
            <a:ext cx="10972800" cy="365760"/>
          </a:xfrm>
          <a:prstGeom prst="rect">
            <a:avLst/>
          </a:prstGeom>
          <a:noFill/>
        </p:spPr>
        <p:txBody>
          <a:bodyPr wrap="square" anchor="t" lIns="0" rIns="0" tIns="0" bIns="0">
            <a:spAutoFit/>
          </a:bodyPr>
          <a:lstStyle/>
          <a:p>
            <a:pPr algn="l"/>
            <a:r>
              <a:rPr sz="1500" b="1">
                <a:solidFill>
                  <a:srgbClr val="1A1A1A"/>
                </a:solidFill>
                <a:latin typeface="IBM Plex Sans"/>
              </a:rPr>
              <a:t>Ce que la compagnie sait quand l'avion se pose</a:t>
            </a:r>
          </a:p>
        </p:txBody>
      </p:sp>
      <p:sp>
        <p:nvSpPr>
          <p:cNvPr id="17" name="Étiquette Utilisé"/>
          <p:cNvSpPr/>
          <p:nvPr/>
        </p:nvSpPr>
        <p:spPr>
          <a:xfrm>
            <a:off x="548640" y="4617720"/>
            <a:ext cx="1737360" cy="502920"/>
          </a:xfrm>
          <a:prstGeom prst="roundRect">
            <a:avLst>
              <a:gd name="adj" fmla="val 8000"/>
            </a:avLst>
          </a:prstGeom>
          <a:solidFill>
            <a:srgbClr val="003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BM Plex Sans"/>
              </a:rPr>
              <a:t>Utilisé</a:t>
            </a:r>
          </a:p>
        </p:txBody>
      </p:sp>
      <p:sp>
        <p:nvSpPr>
          <p:cNvPr id="18" name="TextBox 17"/>
          <p:cNvSpPr txBox="1"/>
          <p:nvPr/>
        </p:nvSpPr>
        <p:spPr>
          <a:xfrm>
            <a:off x="2514600" y="4709159"/>
            <a:ext cx="9144000" cy="411480"/>
          </a:xfrm>
          <a:prstGeom prst="rect">
            <a:avLst/>
          </a:prstGeom>
          <a:noFill/>
        </p:spPr>
        <p:txBody>
          <a:bodyPr wrap="square" anchor="t" lIns="0" rIns="0" tIns="0" bIns="0">
            <a:spAutoFit/>
          </a:bodyPr>
          <a:lstStyle/>
          <a:p>
            <a:pPr algn="l"/>
            <a:r>
              <a:rPr sz="1400" b="0">
                <a:solidFill>
                  <a:srgbClr val="1A1A1A"/>
                </a:solidFill>
                <a:latin typeface="IBM Plex Sans"/>
              </a:rPr>
              <a:t>Classe, distance, retard à l'arrivée, fidélité, motif du voyage déclaré (tarif, compte entreprise)</a:t>
            </a:r>
          </a:p>
        </p:txBody>
      </p:sp>
      <p:sp>
        <p:nvSpPr>
          <p:cNvPr id="19" name="Étiquette Non utilisé"/>
          <p:cNvSpPr/>
          <p:nvPr/>
        </p:nvSpPr>
        <p:spPr>
          <a:xfrm>
            <a:off x="548640" y="5303520"/>
            <a:ext cx="1737360" cy="502920"/>
          </a:xfrm>
          <a:prstGeom prst="roundRect">
            <a:avLst>
              <a:gd name="adj" fmla="val 8000"/>
            </a:avLst>
          </a:prstGeom>
          <a:solidFill>
            <a:srgbClr val="FF5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BM Plex Sans"/>
              </a:rPr>
              <a:t>Non utilisé</a:t>
            </a:r>
          </a:p>
        </p:txBody>
      </p:sp>
      <p:sp>
        <p:nvSpPr>
          <p:cNvPr id="20" name="TextBox 19"/>
          <p:cNvSpPr txBox="1"/>
          <p:nvPr/>
        </p:nvSpPr>
        <p:spPr>
          <a:xfrm>
            <a:off x="2514600" y="5394959"/>
            <a:ext cx="9144000" cy="411480"/>
          </a:xfrm>
          <a:prstGeom prst="rect">
            <a:avLst/>
          </a:prstGeom>
          <a:noFill/>
        </p:spPr>
        <p:txBody>
          <a:bodyPr wrap="square" anchor="t" lIns="0" rIns="0" tIns="0" bIns="0">
            <a:spAutoFit/>
          </a:bodyPr>
          <a:lstStyle/>
          <a:p>
            <a:pPr algn="l"/>
            <a:r>
              <a:rPr sz="1400" b="0">
                <a:solidFill>
                  <a:srgbClr val="1A1A1A"/>
                </a:solidFill>
                <a:latin typeface="IBM Plex Sans"/>
              </a:rPr>
              <a:t>Âge et genre (inutiles et sensibles), notes du questionnaire (elles arrivent après le vol)</a:t>
            </a:r>
          </a:p>
        </p:txBody>
      </p:sp>
      <p:sp>
        <p:nvSpPr>
          <p:cNvPr id="21"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22"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PARTIE 2 – DEUX MÉTHODES DE CIBLAGE</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Un arbre de décision : trois questions simples pour choisir</a:t>
            </a:r>
          </a:p>
        </p:txBody>
      </p:sp>
      <p:pic>
        <p:nvPicPr>
          <p:cNvPr id="4" name="Arbre de décision simplifié" descr="rapport_fig08_arbre_simplifie.png"/>
          <p:cNvPicPr>
            <a:picLocks noChangeAspect="1"/>
          </p:cNvPicPr>
          <p:nvPr/>
        </p:nvPicPr>
        <p:blipFill>
          <a:blip r:embed="rId2"/>
          <a:stretch>
            <a:fillRect/>
          </a:stretch>
        </p:blipFill>
        <p:spPr>
          <a:xfrm>
            <a:off x="457200" y="1600200"/>
            <a:ext cx="7406640" cy="3728914"/>
          </a:xfrm>
          <a:prstGeom prst="rect">
            <a:avLst/>
          </a:prstGeom>
        </p:spPr>
      </p:pic>
      <p:sp>
        <p:nvSpPr>
          <p:cNvPr id="5" name="Lecture de l'arbre"/>
          <p:cNvSpPr/>
          <p:nvPr/>
        </p:nvSpPr>
        <p:spPr>
          <a:xfrm>
            <a:off x="548640" y="5349240"/>
            <a:ext cx="7315200" cy="685800"/>
          </a:xfrm>
          <a:prstGeom prst="roundRect">
            <a:avLst>
              <a:gd name="adj" fmla="val 8000"/>
            </a:avLst>
          </a:prstGeom>
          <a:solidFill>
            <a:srgbClr val="FF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458968"/>
            <a:ext cx="6949440" cy="502920"/>
          </a:xfrm>
          <a:prstGeom prst="rect">
            <a:avLst/>
          </a:prstGeom>
          <a:noFill/>
        </p:spPr>
        <p:txBody>
          <a:bodyPr wrap="square" anchor="ctr" lIns="0" rIns="0" tIns="0" bIns="0">
            <a:spAutoFit/>
          </a:bodyPr>
          <a:lstStyle/>
          <a:p>
            <a:pPr algn="l"/>
            <a:r>
              <a:rPr sz="1300" b="1">
                <a:solidFill>
                  <a:srgbClr val="1A1A1A"/>
                </a:solidFill>
                <a:latin typeface="IBM Plex Sans"/>
              </a:rPr>
              <a:t>Lecture : </a:t>
            </a:r>
            <a:r>
              <a:rPr sz="1300" b="0">
                <a:solidFill>
                  <a:srgbClr val="1A1A1A"/>
                </a:solidFill>
                <a:latin typeface="IBM Plex Sans"/>
              </a:rPr>
              <a:t>en Eco ou Eco Plus, un voyageur de loisirs arrivé avec plus de 6 minutes de retard est neutre ou insatisfait dans 96 % des cas.</a:t>
            </a:r>
          </a:p>
        </p:txBody>
      </p:sp>
      <p:sp>
        <p:nvSpPr>
          <p:cNvPr id="7" name="Méthode ciblage 1"/>
          <p:cNvSpPr/>
          <p:nvPr/>
        </p:nvSpPr>
        <p:spPr>
          <a:xfrm>
            <a:off x="8183879" y="1600200"/>
            <a:ext cx="3474720" cy="214884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0" y="1764792"/>
            <a:ext cx="3063240" cy="502920"/>
          </a:xfrm>
          <a:prstGeom prst="rect">
            <a:avLst/>
          </a:prstGeom>
          <a:noFill/>
        </p:spPr>
        <p:txBody>
          <a:bodyPr wrap="square" anchor="t" lIns="0" rIns="0" tIns="0" bIns="0">
            <a:spAutoFit/>
          </a:bodyPr>
          <a:lstStyle/>
          <a:p>
            <a:pPr algn="l"/>
            <a:r>
              <a:rPr sz="1400" b="1">
                <a:solidFill>
                  <a:srgbClr val="0039FA"/>
                </a:solidFill>
                <a:latin typeface="IBM Plex Sans"/>
              </a:rPr>
              <a:t>Méthode 1 : arbre de décision (retenu)</a:t>
            </a:r>
          </a:p>
        </p:txBody>
      </p:sp>
      <p:sp>
        <p:nvSpPr>
          <p:cNvPr id="9" name="TextBox 8"/>
          <p:cNvSpPr txBox="1"/>
          <p:nvPr/>
        </p:nvSpPr>
        <p:spPr>
          <a:xfrm>
            <a:off x="8412480" y="2313432"/>
            <a:ext cx="3063240" cy="822960"/>
          </a:xfrm>
          <a:prstGeom prst="rect">
            <a:avLst/>
          </a:prstGeom>
          <a:noFill/>
        </p:spPr>
        <p:txBody>
          <a:bodyPr wrap="square" anchor="t" lIns="0" rIns="0" tIns="0" bIns="0">
            <a:spAutoFit/>
          </a:bodyPr>
          <a:lstStyle/>
          <a:p>
            <a:pPr algn="l">
              <a:spcAft>
                <a:spcPts val="200"/>
              </a:spcAft>
            </a:pPr>
            <a:r>
              <a:rPr sz="1200" b="0">
                <a:solidFill>
                  <a:srgbClr val="1A1A1A"/>
                </a:solidFill>
                <a:latin typeface="IBM Plex Sans"/>
              </a:rPr>
              <a:t>Une suite de questions oui / non. Chaque signalement s'explique en une phrase à l'agent.</a:t>
            </a:r>
          </a:p>
        </p:txBody>
      </p:sp>
      <p:sp>
        <p:nvSpPr>
          <p:cNvPr id="10" name="TextBox 9"/>
          <p:cNvSpPr txBox="1"/>
          <p:nvPr/>
        </p:nvSpPr>
        <p:spPr>
          <a:xfrm>
            <a:off x="8412480" y="3227832"/>
            <a:ext cx="3063240" cy="411480"/>
          </a:xfrm>
          <a:prstGeom prst="rect">
            <a:avLst/>
          </a:prstGeom>
          <a:noFill/>
        </p:spPr>
        <p:txBody>
          <a:bodyPr wrap="square" anchor="t" lIns="0" rIns="0" tIns="0" bIns="0">
            <a:spAutoFit/>
          </a:bodyPr>
          <a:lstStyle/>
          <a:p>
            <a:pPr algn="l"/>
            <a:r>
              <a:rPr sz="2000" b="1">
                <a:solidFill>
                  <a:srgbClr val="0039FA"/>
                </a:solidFill>
                <a:latin typeface="IBM Plex Sans"/>
              </a:rPr>
              <a:t>96 %</a:t>
            </a:r>
            <a:r>
              <a:rPr sz="1100" b="0">
                <a:solidFill>
                  <a:srgbClr val="1A1A1A"/>
                </a:solidFill>
                <a:latin typeface="IBM Plex Sans"/>
              </a:rPr>
              <a:t>  de neutres ou insatisfaits parmi les approchés</a:t>
            </a:r>
          </a:p>
        </p:txBody>
      </p:sp>
      <p:sp>
        <p:nvSpPr>
          <p:cNvPr id="11" name="Méthode ciblage 2"/>
          <p:cNvSpPr/>
          <p:nvPr/>
        </p:nvSpPr>
        <p:spPr>
          <a:xfrm>
            <a:off x="8183879" y="3931920"/>
            <a:ext cx="3474720" cy="2148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4096511"/>
            <a:ext cx="3063240" cy="502920"/>
          </a:xfrm>
          <a:prstGeom prst="rect">
            <a:avLst/>
          </a:prstGeom>
          <a:noFill/>
        </p:spPr>
        <p:txBody>
          <a:bodyPr wrap="square" anchor="t" lIns="0" rIns="0" tIns="0" bIns="0">
            <a:spAutoFit/>
          </a:bodyPr>
          <a:lstStyle/>
          <a:p>
            <a:pPr algn="l"/>
            <a:r>
              <a:rPr sz="1400" b="1">
                <a:solidFill>
                  <a:srgbClr val="1A1A1A"/>
                </a:solidFill>
                <a:latin typeface="IBM Plex Sans"/>
              </a:rPr>
              <a:t>Méthode 2 : gradient boosting</a:t>
            </a:r>
          </a:p>
        </p:txBody>
      </p:sp>
      <p:sp>
        <p:nvSpPr>
          <p:cNvPr id="13" name="TextBox 12"/>
          <p:cNvSpPr txBox="1"/>
          <p:nvPr/>
        </p:nvSpPr>
        <p:spPr>
          <a:xfrm>
            <a:off x="8412480" y="4645152"/>
            <a:ext cx="3063240" cy="822960"/>
          </a:xfrm>
          <a:prstGeom prst="rect">
            <a:avLst/>
          </a:prstGeom>
          <a:noFill/>
        </p:spPr>
        <p:txBody>
          <a:bodyPr wrap="square" anchor="t" lIns="0" rIns="0" tIns="0" bIns="0">
            <a:spAutoFit/>
          </a:bodyPr>
          <a:lstStyle/>
          <a:p>
            <a:pPr algn="l">
              <a:spcAft>
                <a:spcPts val="200"/>
              </a:spcAft>
            </a:pPr>
            <a:r>
              <a:rPr sz="1200" b="0">
                <a:solidFill>
                  <a:srgbClr val="1A1A1A"/>
                </a:solidFill>
                <a:latin typeface="IBM Plex Sans"/>
              </a:rPr>
              <a:t>Le modèle le plus précis, utilisé comme référence. Ses décisions ne s'expliquent pas passager par passager.</a:t>
            </a:r>
          </a:p>
          <a:p>
            <a:pPr algn="l">
              <a:spcAft>
                <a:spcPts val="200"/>
              </a:spcAft>
            </a:pPr>
            <a:r>
              <a:rPr sz="1000" b="0">
                <a:solidFill>
                  <a:srgbClr val="555555"/>
                </a:solidFill>
                <a:latin typeface="IBM Plex Sans"/>
              </a:rPr>
              <a:t>Modèle le plus précis = gradient boosting</a:t>
            </a:r>
          </a:p>
        </p:txBody>
      </p:sp>
      <p:sp>
        <p:nvSpPr>
          <p:cNvPr id="14" name="TextBox 13"/>
          <p:cNvSpPr txBox="1"/>
          <p:nvPr/>
        </p:nvSpPr>
        <p:spPr>
          <a:xfrm>
            <a:off x="8412480" y="5559552"/>
            <a:ext cx="3063240" cy="411480"/>
          </a:xfrm>
          <a:prstGeom prst="rect">
            <a:avLst/>
          </a:prstGeom>
          <a:noFill/>
        </p:spPr>
        <p:txBody>
          <a:bodyPr wrap="square" anchor="t" lIns="0" rIns="0" tIns="0" bIns="0">
            <a:spAutoFit/>
          </a:bodyPr>
          <a:lstStyle/>
          <a:p>
            <a:pPr algn="l"/>
            <a:r>
              <a:rPr sz="2000" b="1">
                <a:solidFill>
                  <a:srgbClr val="555555"/>
                </a:solidFill>
                <a:latin typeface="IBM Plex Sans"/>
              </a:rPr>
              <a:t>97 %</a:t>
            </a:r>
            <a:r>
              <a:rPr sz="1100" b="0">
                <a:solidFill>
                  <a:srgbClr val="1A1A1A"/>
                </a:solidFill>
                <a:latin typeface="IBM Plex Sans"/>
              </a:rPr>
              <a:t>  de neutres ou insatisfaits parmi les approchés</a:t>
            </a:r>
          </a:p>
        </p:txBody>
      </p:sp>
      <p:sp>
        <p:nvSpPr>
          <p:cNvPr id="15"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16"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PARTIE 2 – RÉSULTATS</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96 approchés sur 100 sont neutres ou insatisfaits</a:t>
            </a:r>
          </a:p>
        </p:txBody>
      </p:sp>
      <p:sp>
        <p:nvSpPr>
          <p:cNvPr id="4" name="TextBox 3"/>
          <p:cNvSpPr txBox="1"/>
          <p:nvPr/>
        </p:nvSpPr>
        <p:spPr>
          <a:xfrm>
            <a:off x="548640" y="1645920"/>
            <a:ext cx="7315200" cy="365760"/>
          </a:xfrm>
          <a:prstGeom prst="rect">
            <a:avLst/>
          </a:prstGeom>
          <a:noFill/>
        </p:spPr>
        <p:txBody>
          <a:bodyPr wrap="square" anchor="t" lIns="0" rIns="0" tIns="0" bIns="0">
            <a:spAutoFit/>
          </a:bodyPr>
          <a:lstStyle/>
          <a:p>
            <a:pPr algn="l"/>
            <a:r>
              <a:rPr sz="1500" b="1">
                <a:solidFill>
                  <a:srgbClr val="1A1A1A"/>
                </a:solidFill>
                <a:latin typeface="IBM Plex Sans"/>
              </a:rPr>
              <a:t>Sur 100 passagers approchés, selon la façon de les choisir</a:t>
            </a:r>
          </a:p>
        </p:txBody>
      </p:sp>
      <p:graphicFrame>
        <p:nvGraphicFramePr>
          <p:cNvPr id="5" name="Graphique comparaison"/>
          <p:cNvGraphicFramePr>
            <a:graphicFrameLocks noGrp="1"/>
          </p:cNvGraphicFramePr>
          <p:nvPr/>
        </p:nvGraphicFramePr>
        <p:xfrm>
          <a:off x="457200" y="2011680"/>
          <a:ext cx="7498079" cy="3611880"/>
        </p:xfrm>
        <a:graphic>
          <a:graphicData uri="http://schemas.openxmlformats.org/drawingml/2006/chart">
            <c:chart xmlns:c="http://schemas.openxmlformats.org/drawingml/2006/chart" r:id="rId2"/>
          </a:graphicData>
        </a:graphic>
      </p:graphicFrame>
      <p:sp>
        <p:nvSpPr>
          <p:cNvPr id="6" name="Légende Neutres ou insatisfaits approchés"/>
          <p:cNvSpPr/>
          <p:nvPr/>
        </p:nvSpPr>
        <p:spPr>
          <a:xfrm>
            <a:off x="685800" y="5715000"/>
            <a:ext cx="164592" cy="164592"/>
          </a:xfrm>
          <a:prstGeom prst="rect">
            <a:avLst/>
          </a:prstGeom>
          <a:solidFill>
            <a:srgbClr val="7F9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5669280"/>
            <a:ext cx="2926080" cy="274320"/>
          </a:xfrm>
          <a:prstGeom prst="rect">
            <a:avLst/>
          </a:prstGeom>
          <a:noFill/>
        </p:spPr>
        <p:txBody>
          <a:bodyPr wrap="square" anchor="t" lIns="0" rIns="0" tIns="0" bIns="0">
            <a:spAutoFit/>
          </a:bodyPr>
          <a:lstStyle/>
          <a:p>
            <a:pPr algn="l"/>
            <a:r>
              <a:rPr sz="1100" b="0">
                <a:solidFill>
                  <a:srgbClr val="1A1A1A"/>
                </a:solidFill>
                <a:latin typeface="IBM Plex Sans"/>
              </a:rPr>
              <a:t>Neutres ou insatisfaits approchés</a:t>
            </a:r>
          </a:p>
        </p:txBody>
      </p:sp>
      <p:sp>
        <p:nvSpPr>
          <p:cNvPr id="8" name="Légende Arbre retenu"/>
          <p:cNvSpPr/>
          <p:nvPr/>
        </p:nvSpPr>
        <p:spPr>
          <a:xfrm>
            <a:off x="3899916" y="5715000"/>
            <a:ext cx="164592" cy="164592"/>
          </a:xfrm>
          <a:prstGeom prst="rect">
            <a:avLst/>
          </a:prstGeom>
          <a:solidFill>
            <a:srgbClr val="FF5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37660" y="5669280"/>
            <a:ext cx="2926080" cy="274320"/>
          </a:xfrm>
          <a:prstGeom prst="rect">
            <a:avLst/>
          </a:prstGeom>
          <a:noFill/>
        </p:spPr>
        <p:txBody>
          <a:bodyPr wrap="square" anchor="t" lIns="0" rIns="0" tIns="0" bIns="0">
            <a:spAutoFit/>
          </a:bodyPr>
          <a:lstStyle/>
          <a:p>
            <a:pPr algn="l"/>
            <a:r>
              <a:rPr sz="1100" b="0">
                <a:solidFill>
                  <a:srgbClr val="1A1A1A"/>
                </a:solidFill>
                <a:latin typeface="IBM Plex Sans"/>
              </a:rPr>
              <a:t>Arbre retenu</a:t>
            </a:r>
          </a:p>
        </p:txBody>
      </p:sp>
      <p:sp>
        <p:nvSpPr>
          <p:cNvPr id="10" name="Légende Approches inutiles (40 € chacune)"/>
          <p:cNvSpPr/>
          <p:nvPr/>
        </p:nvSpPr>
        <p:spPr>
          <a:xfrm>
            <a:off x="5481828" y="5715000"/>
            <a:ext cx="164592" cy="164592"/>
          </a:xfrm>
          <a:prstGeom prst="rect">
            <a:avLst/>
          </a:prstGeom>
          <a:solidFill>
            <a:srgbClr val="FF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9572" y="5669280"/>
            <a:ext cx="2926080" cy="274320"/>
          </a:xfrm>
          <a:prstGeom prst="rect">
            <a:avLst/>
          </a:prstGeom>
          <a:noFill/>
        </p:spPr>
        <p:txBody>
          <a:bodyPr wrap="square" anchor="t" lIns="0" rIns="0" tIns="0" bIns="0">
            <a:spAutoFit/>
          </a:bodyPr>
          <a:lstStyle/>
          <a:p>
            <a:pPr algn="l"/>
            <a:r>
              <a:rPr sz="1100" b="0">
                <a:solidFill>
                  <a:srgbClr val="1A1A1A"/>
                </a:solidFill>
                <a:latin typeface="IBM Plex Sans"/>
              </a:rPr>
              <a:t>Approches inutiles (40 € chacune)</a:t>
            </a:r>
          </a:p>
        </p:txBody>
      </p:sp>
      <p:sp>
        <p:nvSpPr>
          <p:cNvPr id="12" name="Gain net"/>
          <p:cNvSpPr/>
          <p:nvPr/>
        </p:nvSpPr>
        <p:spPr>
          <a:xfrm>
            <a:off x="8321040" y="1691640"/>
            <a:ext cx="3337560" cy="196596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49640" y="1828800"/>
            <a:ext cx="2926080" cy="640080"/>
          </a:xfrm>
          <a:prstGeom prst="rect">
            <a:avLst/>
          </a:prstGeom>
          <a:noFill/>
        </p:spPr>
        <p:txBody>
          <a:bodyPr wrap="square" anchor="t" lIns="0" rIns="0" tIns="0" bIns="0">
            <a:spAutoFit/>
          </a:bodyPr>
          <a:lstStyle/>
          <a:p>
            <a:pPr algn="l"/>
            <a:r>
              <a:rPr sz="3400" b="1">
                <a:solidFill>
                  <a:srgbClr val="0039FA"/>
                </a:solidFill>
                <a:latin typeface="IBM Plex Sans"/>
              </a:rPr>
              <a:t>5 600 €</a:t>
            </a:r>
          </a:p>
        </p:txBody>
      </p:sp>
      <p:sp>
        <p:nvSpPr>
          <p:cNvPr id="14" name="TextBox 13"/>
          <p:cNvSpPr txBox="1"/>
          <p:nvPr/>
        </p:nvSpPr>
        <p:spPr>
          <a:xfrm>
            <a:off x="8549640" y="2514600"/>
            <a:ext cx="2926080" cy="1005840"/>
          </a:xfrm>
          <a:prstGeom prst="rect">
            <a:avLst/>
          </a:prstGeom>
          <a:noFill/>
        </p:spPr>
        <p:txBody>
          <a:bodyPr wrap="square" anchor="t" lIns="0" rIns="0" tIns="0" bIns="0">
            <a:spAutoFit/>
          </a:bodyPr>
          <a:lstStyle/>
          <a:p>
            <a:pPr algn="l"/>
            <a:r>
              <a:rPr sz="1300" b="0">
                <a:solidFill>
                  <a:srgbClr val="1A1A1A"/>
                </a:solidFill>
                <a:latin typeface="IBM Plex Sans"/>
              </a:rPr>
              <a:t>de gain net pour 1 000 passagers à l'arrivée, contre 2 300 € sans ciblage</a:t>
            </a:r>
          </a:p>
        </p:txBody>
      </p:sp>
      <p:sp>
        <p:nvSpPr>
          <p:cNvPr id="15" name="Résultat final"/>
          <p:cNvSpPr/>
          <p:nvPr/>
        </p:nvSpPr>
        <p:spPr>
          <a:xfrm>
            <a:off x="8321040" y="3840480"/>
            <a:ext cx="3337560" cy="2057400"/>
          </a:xfrm>
          <a:prstGeom prst="roundRect">
            <a:avLst>
              <a:gd name="adj" fmla="val 8000"/>
            </a:avLst>
          </a:prstGeom>
          <a:solidFill>
            <a:srgbClr val="FF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40" y="3977639"/>
            <a:ext cx="2926080" cy="640080"/>
          </a:xfrm>
          <a:prstGeom prst="rect">
            <a:avLst/>
          </a:prstGeom>
          <a:noFill/>
        </p:spPr>
        <p:txBody>
          <a:bodyPr wrap="square" anchor="t" lIns="0" rIns="0" tIns="0" bIns="0">
            <a:spAutoFit/>
          </a:bodyPr>
          <a:lstStyle/>
          <a:p>
            <a:pPr algn="l"/>
            <a:r>
              <a:rPr sz="3400" b="1">
                <a:solidFill>
                  <a:srgbClr val="FF5F39"/>
                </a:solidFill>
                <a:latin typeface="IBM Plex Sans"/>
              </a:rPr>
              <a:t>96,1 %</a:t>
            </a:r>
          </a:p>
        </p:txBody>
      </p:sp>
      <p:sp>
        <p:nvSpPr>
          <p:cNvPr id="17" name="TextBox 16"/>
          <p:cNvSpPr txBox="1"/>
          <p:nvPr/>
        </p:nvSpPr>
        <p:spPr>
          <a:xfrm>
            <a:off x="8549640" y="4663440"/>
            <a:ext cx="2926080" cy="1188720"/>
          </a:xfrm>
          <a:prstGeom prst="rect">
            <a:avLst/>
          </a:prstGeom>
          <a:noFill/>
        </p:spPr>
        <p:txBody>
          <a:bodyPr wrap="square" anchor="t" lIns="0" rIns="0" tIns="0" bIns="0">
            <a:spAutoFit/>
          </a:bodyPr>
          <a:lstStyle/>
          <a:p>
            <a:pPr algn="l"/>
            <a:r>
              <a:rPr sz="1300" b="0">
                <a:solidFill>
                  <a:srgbClr val="1A1A1A"/>
                </a:solidFill>
                <a:latin typeface="IBM Plex Sans"/>
              </a:rPr>
              <a:t>sur 25 893 nouveaux passagers, mis de côté jusqu'à la fin et utilisés une seule fois</a:t>
            </a:r>
          </a:p>
        </p:txBody>
      </p:sp>
      <p:sp>
        <p:nvSpPr>
          <p:cNvPr id="18" name="Note"/>
          <p:cNvSpPr txBox="1"/>
          <p:nvPr/>
        </p:nvSpPr>
        <p:spPr>
          <a:xfrm>
            <a:off x="548640" y="6035040"/>
            <a:ext cx="11064240" cy="320040"/>
          </a:xfrm>
          <a:prstGeom prst="rect">
            <a:avLst/>
          </a:prstGeom>
          <a:noFill/>
        </p:spPr>
        <p:txBody>
          <a:bodyPr wrap="square" anchor="t" lIns="0" rIns="0" tIns="0" bIns="0">
            <a:spAutoFit/>
          </a:bodyPr>
          <a:lstStyle/>
          <a:p>
            <a:pPr algn="l"/>
            <a:r>
              <a:rPr sz="1100" b="0">
                <a:solidFill>
                  <a:srgbClr val="555555"/>
                </a:solidFill>
                <a:latin typeface="IBM Plex Sans"/>
              </a:rPr>
              <a:t>Méthodes comparées par validation croisée sur les passagers de l'enquête ; second fichier utilisé une seule fois, à la fin, sur le modèle déjà choisi.</a:t>
            </a:r>
          </a:p>
        </p:txBody>
      </p:sp>
      <p:sp>
        <p:nvSpPr>
          <p:cNvPr id="19"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20"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CONCLUSION – PROFIL TYPE</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Priorité : le vacancier en Eco arrivé en retard</a:t>
            </a:r>
          </a:p>
        </p:txBody>
      </p:sp>
      <p:sp>
        <p:nvSpPr>
          <p:cNvPr id="4" name="Profil P1"/>
          <p:cNvSpPr/>
          <p:nvPr/>
        </p:nvSpPr>
        <p:spPr>
          <a:xfrm>
            <a:off x="548640" y="1691640"/>
            <a:ext cx="3931920" cy="4206240"/>
          </a:xfrm>
          <a:prstGeom prst="roundRect">
            <a:avLst>
              <a:gd name="adj" fmla="val 8000"/>
            </a:avLst>
          </a:prstGeom>
          <a:solidFill>
            <a:srgbClr val="FF5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74519"/>
            <a:ext cx="3474720" cy="457200"/>
          </a:xfrm>
          <a:prstGeom prst="rect">
            <a:avLst/>
          </a:prstGeom>
          <a:noFill/>
        </p:spPr>
        <p:txBody>
          <a:bodyPr wrap="square" anchor="t" lIns="0" rIns="0" tIns="0" bIns="0">
            <a:spAutoFit/>
          </a:bodyPr>
          <a:lstStyle/>
          <a:p>
            <a:pPr algn="l"/>
            <a:r>
              <a:rPr sz="2000" b="1">
                <a:solidFill>
                  <a:srgbClr val="FFFFFF"/>
                </a:solidFill>
                <a:latin typeface="IBM Plex Sans"/>
              </a:rPr>
              <a:t>P1</a:t>
            </a:r>
          </a:p>
        </p:txBody>
      </p:sp>
      <p:sp>
        <p:nvSpPr>
          <p:cNvPr id="6" name="TextBox 5"/>
          <p:cNvSpPr txBox="1"/>
          <p:nvPr/>
        </p:nvSpPr>
        <p:spPr>
          <a:xfrm>
            <a:off x="822960" y="2286000"/>
            <a:ext cx="3474720" cy="1097280"/>
          </a:xfrm>
          <a:prstGeom prst="rect">
            <a:avLst/>
          </a:prstGeom>
          <a:noFill/>
        </p:spPr>
        <p:txBody>
          <a:bodyPr wrap="square" anchor="t" lIns="0" rIns="0" tIns="0" bIns="0">
            <a:spAutoFit/>
          </a:bodyPr>
          <a:lstStyle/>
          <a:p>
            <a:pPr algn="l"/>
            <a:r>
              <a:rPr sz="1600" b="1">
                <a:solidFill>
                  <a:srgbClr val="FFFFFF"/>
                </a:solidFill>
                <a:latin typeface="IBM Plex Sans"/>
              </a:rPr>
              <a:t>Voyage de loisirs, en Eco ou Eco Plus, arrivé avec plus de 6 minutes de retard</a:t>
            </a:r>
          </a:p>
        </p:txBody>
      </p:sp>
      <p:sp>
        <p:nvSpPr>
          <p:cNvPr id="7" name="TextBox 6"/>
          <p:cNvSpPr txBox="1"/>
          <p:nvPr/>
        </p:nvSpPr>
        <p:spPr>
          <a:xfrm>
            <a:off x="822960" y="3520440"/>
            <a:ext cx="3474720" cy="548640"/>
          </a:xfrm>
          <a:prstGeom prst="rect">
            <a:avLst/>
          </a:prstGeom>
          <a:noFill/>
        </p:spPr>
        <p:txBody>
          <a:bodyPr wrap="square" anchor="t" lIns="0" rIns="0" tIns="0" bIns="0">
            <a:spAutoFit/>
          </a:bodyPr>
          <a:lstStyle/>
          <a:p>
            <a:pPr algn="l"/>
            <a:r>
              <a:rPr sz="3600" b="1">
                <a:solidFill>
                  <a:srgbClr val="FFFFFF"/>
                </a:solidFill>
                <a:latin typeface="IBM Plex Sans"/>
              </a:rPr>
              <a:t>96 %</a:t>
            </a:r>
          </a:p>
        </p:txBody>
      </p:sp>
      <p:sp>
        <p:nvSpPr>
          <p:cNvPr id="8" name="TextBox 7"/>
          <p:cNvSpPr txBox="1"/>
          <p:nvPr/>
        </p:nvSpPr>
        <p:spPr>
          <a:xfrm>
            <a:off x="822960" y="4114800"/>
            <a:ext cx="3474720" cy="365760"/>
          </a:xfrm>
          <a:prstGeom prst="rect">
            <a:avLst/>
          </a:prstGeom>
          <a:noFill/>
        </p:spPr>
        <p:txBody>
          <a:bodyPr wrap="square" anchor="t" lIns="0" rIns="0" tIns="0" bIns="0">
            <a:spAutoFit/>
          </a:bodyPr>
          <a:lstStyle/>
          <a:p>
            <a:pPr algn="l"/>
            <a:r>
              <a:rPr sz="1300" b="0">
                <a:solidFill>
                  <a:srgbClr val="FFFFFF"/>
                </a:solidFill>
                <a:latin typeface="IBM Plex Sans"/>
              </a:rPr>
              <a:t>de neutres ou insatisfaits</a:t>
            </a:r>
          </a:p>
        </p:txBody>
      </p:sp>
      <p:sp>
        <p:nvSpPr>
          <p:cNvPr id="9" name="TextBox 8"/>
          <p:cNvSpPr txBox="1"/>
          <p:nvPr/>
        </p:nvSpPr>
        <p:spPr>
          <a:xfrm>
            <a:off x="822960" y="4617720"/>
            <a:ext cx="3474720" cy="548640"/>
          </a:xfrm>
          <a:prstGeom prst="rect">
            <a:avLst/>
          </a:prstGeom>
          <a:noFill/>
        </p:spPr>
        <p:txBody>
          <a:bodyPr wrap="square" anchor="t" lIns="0" rIns="0" tIns="0" bIns="0">
            <a:spAutoFit/>
          </a:bodyPr>
          <a:lstStyle/>
          <a:p>
            <a:pPr algn="l"/>
            <a:r>
              <a:rPr sz="3600" b="1">
                <a:solidFill>
                  <a:srgbClr val="FFFFFF"/>
                </a:solidFill>
                <a:latin typeface="IBM Plex Sans"/>
              </a:rPr>
              <a:t>12 %</a:t>
            </a:r>
          </a:p>
        </p:txBody>
      </p:sp>
      <p:sp>
        <p:nvSpPr>
          <p:cNvPr id="10" name="TextBox 9"/>
          <p:cNvSpPr txBox="1"/>
          <p:nvPr/>
        </p:nvSpPr>
        <p:spPr>
          <a:xfrm>
            <a:off x="822960" y="5212080"/>
            <a:ext cx="3474720" cy="365760"/>
          </a:xfrm>
          <a:prstGeom prst="rect">
            <a:avLst/>
          </a:prstGeom>
          <a:noFill/>
        </p:spPr>
        <p:txBody>
          <a:bodyPr wrap="square" anchor="t" lIns="0" rIns="0" tIns="0" bIns="0">
            <a:spAutoFit/>
          </a:bodyPr>
          <a:lstStyle/>
          <a:p>
            <a:pPr algn="l"/>
            <a:r>
              <a:rPr sz="1300" b="0">
                <a:solidFill>
                  <a:srgbClr val="FFFFFF"/>
                </a:solidFill>
                <a:latin typeface="IBM Plex Sans"/>
              </a:rPr>
              <a:t>des passagers, proche de la capacité (10 %)</a:t>
            </a:r>
          </a:p>
        </p:txBody>
      </p:sp>
      <p:graphicFrame>
        <p:nvGraphicFramePr>
          <p:cNvPr id="11" name="Tableau des critères"/>
          <p:cNvGraphicFramePr>
            <a:graphicFrameLocks noGrp="1"/>
          </p:cNvGraphicFramePr>
          <p:nvPr/>
        </p:nvGraphicFramePr>
        <p:xfrm>
          <a:off x="4800600" y="1691640"/>
          <a:ext cx="6858000" cy="4206240"/>
        </p:xfrm>
        <a:graphic>
          <a:graphicData uri="http://schemas.openxmlformats.org/drawingml/2006/table">
            <a:tbl>
              <a:tblPr firstRow="1" bandRow="1">
                <a:tableStyleId>{5C22544A-7EE6-4342-B048-85BDC9FD1C3A}</a:tableStyleId>
              </a:tblPr>
              <a:tblGrid>
                <a:gridCol w="3840480"/>
                <a:gridCol w="1005840"/>
                <a:gridCol w="1005840"/>
                <a:gridCol w="1005840"/>
              </a:tblGrid>
              <a:tr h="467360">
                <a:tc>
                  <a:txBody>
                    <a:bodyPr/>
                    <a:lstStyle/>
                    <a:p>
                      <a:pPr algn="l"/>
                      <a:r>
                        <a:rPr sz="1200" b="1">
                          <a:solidFill>
                            <a:srgbClr val="1A1A1A"/>
                          </a:solidFill>
                          <a:latin typeface="IBM Plex Sans"/>
                        </a:rPr>
                        <a:t>Critère</a:t>
                      </a:r>
                    </a:p>
                  </a:txBody>
                  <a:tcPr marL="73152" marR="73152" anchor="ctr">
                    <a:solidFill>
                      <a:srgbClr val="FFFFFF"/>
                    </a:solidFill>
                  </a:tcPr>
                </a:tc>
                <a:tc>
                  <a:txBody>
                    <a:bodyPr/>
                    <a:lstStyle/>
                    <a:p>
                      <a:pPr algn="ctr"/>
                      <a:r>
                        <a:rPr sz="1200" b="1">
                          <a:solidFill>
                            <a:srgbClr val="1A1A1A"/>
                          </a:solidFill>
                          <a:latin typeface="IBM Plex Sans"/>
                        </a:rPr>
                        <a:t>P1</a:t>
                      </a:r>
                    </a:p>
                  </a:txBody>
                  <a:tcPr marL="73152" marR="73152" anchor="ctr">
                    <a:solidFill>
                      <a:srgbClr val="FFFFFF"/>
                    </a:solidFill>
                  </a:tcPr>
                </a:tc>
                <a:tc>
                  <a:txBody>
                    <a:bodyPr/>
                    <a:lstStyle/>
                    <a:p>
                      <a:pPr algn="ctr"/>
                      <a:r>
                        <a:rPr sz="1200" b="1">
                          <a:solidFill>
                            <a:srgbClr val="1A1A1A"/>
                          </a:solidFill>
                          <a:latin typeface="IBM Plex Sans"/>
                        </a:rPr>
                        <a:t>P2</a:t>
                      </a:r>
                    </a:p>
                  </a:txBody>
                  <a:tcPr marL="73152" marR="73152" anchor="ctr">
                    <a:solidFill>
                      <a:srgbClr val="FFFFFF"/>
                    </a:solidFill>
                  </a:tcPr>
                </a:tc>
                <a:tc>
                  <a:txBody>
                    <a:bodyPr/>
                    <a:lstStyle/>
                    <a:p>
                      <a:pPr algn="ctr"/>
                      <a:r>
                        <a:rPr sz="1200" b="1">
                          <a:solidFill>
                            <a:srgbClr val="1A1A1A"/>
                          </a:solidFill>
                          <a:latin typeface="IBM Plex Sans"/>
                        </a:rPr>
                        <a:t>P3</a:t>
                      </a:r>
                    </a:p>
                  </a:txBody>
                  <a:tcPr marL="73152" marR="73152" anchor="ctr">
                    <a:solidFill>
                      <a:srgbClr val="FFFFFF"/>
                    </a:solidFill>
                  </a:tcPr>
                </a:tc>
              </a:tr>
              <a:tr h="467360">
                <a:tc>
                  <a:txBody>
                    <a:bodyPr/>
                    <a:lstStyle/>
                    <a:p>
                      <a:pPr algn="l"/>
                      <a:r>
                        <a:rPr sz="1200" b="0">
                          <a:solidFill>
                            <a:srgbClr val="1A1A1A"/>
                          </a:solidFill>
                          <a:latin typeface="IBM Plex Sans"/>
                        </a:rPr>
                        <a:t>Connu à l'atterrissage</a:t>
                      </a:r>
                    </a:p>
                  </a:txBody>
                  <a:tcPr marL="73152" marR="73152" anchor="ctr">
                    <a:solidFill>
                      <a:srgbClr val="F2F2F2"/>
                    </a:solidFill>
                  </a:tcPr>
                </a:tc>
                <a:tc>
                  <a:txBody>
                    <a:bodyPr/>
                    <a:lstStyle/>
                    <a:p>
                      <a:pPr algn="ctr"/>
                      <a:r>
                        <a:rPr sz="1200" b="1">
                          <a:solidFill>
                            <a:srgbClr val="0039FA"/>
                          </a:solidFill>
                          <a:latin typeface="IBM Plex Sans"/>
                        </a:rPr>
                        <a:t>oui</a:t>
                      </a:r>
                    </a:p>
                  </a:txBody>
                  <a:tcPr marL="73152" marR="73152" anchor="ctr">
                    <a:solidFill>
                      <a:srgbClr val="F2F2F2"/>
                    </a:solidFill>
                  </a:tcPr>
                </a:tc>
                <a:tc>
                  <a:txBody>
                    <a:bodyPr/>
                    <a:lstStyle/>
                    <a:p>
                      <a:pPr algn="ctr"/>
                      <a:r>
                        <a:rPr sz="1200" b="0">
                          <a:solidFill>
                            <a:srgbClr val="1A1A1A"/>
                          </a:solidFill>
                          <a:latin typeface="IBM Plex Sans"/>
                        </a:rPr>
                        <a:t>oui</a:t>
                      </a:r>
                    </a:p>
                  </a:txBody>
                  <a:tcPr marL="73152" marR="73152" anchor="ctr">
                    <a:solidFill>
                      <a:srgbClr val="F2F2F2"/>
                    </a:solidFill>
                  </a:tcPr>
                </a:tc>
                <a:tc>
                  <a:txBody>
                    <a:bodyPr/>
                    <a:lstStyle/>
                    <a:p>
                      <a:pPr algn="ctr"/>
                      <a:r>
                        <a:rPr sz="1200" b="0">
                          <a:solidFill>
                            <a:srgbClr val="1A1A1A"/>
                          </a:solidFill>
                          <a:latin typeface="IBM Plex Sans"/>
                        </a:rPr>
                        <a:t>oui</a:t>
                      </a:r>
                    </a:p>
                  </a:txBody>
                  <a:tcPr marL="73152" marR="73152" anchor="ctr">
                    <a:solidFill>
                      <a:srgbClr val="F2F2F2"/>
                    </a:solidFill>
                  </a:tcPr>
                </a:tc>
              </a:tr>
              <a:tr h="467360">
                <a:tc>
                  <a:txBody>
                    <a:bodyPr/>
                    <a:lstStyle/>
                    <a:p>
                      <a:pPr algn="l"/>
                      <a:r>
                        <a:rPr sz="1200" b="0">
                          <a:solidFill>
                            <a:srgbClr val="1A1A1A"/>
                          </a:solidFill>
                          <a:latin typeface="IBM Plex Sans"/>
                        </a:rPr>
                        <a:t>Au moins aussi bon que la règle simple (90 %)</a:t>
                      </a:r>
                    </a:p>
                  </a:txBody>
                  <a:tcPr marL="73152" marR="73152" anchor="ctr">
                    <a:solidFill>
                      <a:srgbClr val="FFFFFF"/>
                    </a:solidFill>
                  </a:tcPr>
                </a:tc>
                <a:tc>
                  <a:txBody>
                    <a:bodyPr/>
                    <a:lstStyle/>
                    <a:p>
                      <a:pPr algn="ctr"/>
                      <a:r>
                        <a:rPr sz="1200" b="1">
                          <a:solidFill>
                            <a:srgbClr val="0039FA"/>
                          </a:solidFill>
                          <a:latin typeface="IBM Plex Sans"/>
                        </a:rPr>
                        <a:t>96 %</a:t>
                      </a:r>
                    </a:p>
                  </a:txBody>
                  <a:tcPr marL="73152" marR="73152" anchor="ctr">
                    <a:solidFill>
                      <a:srgbClr val="FFFFFF"/>
                    </a:solidFill>
                  </a:tcPr>
                </a:tc>
                <a:tc>
                  <a:txBody>
                    <a:bodyPr/>
                    <a:lstStyle/>
                    <a:p>
                      <a:pPr algn="ctr"/>
                      <a:r>
                        <a:rPr sz="1200" b="0">
                          <a:solidFill>
                            <a:srgbClr val="FF5F39"/>
                          </a:solidFill>
                          <a:latin typeface="IBM Plex Sans"/>
                        </a:rPr>
                        <a:t>86 %</a:t>
                      </a:r>
                    </a:p>
                  </a:txBody>
                  <a:tcPr marL="73152" marR="73152" anchor="ctr">
                    <a:solidFill>
                      <a:srgbClr val="FFFFFF"/>
                    </a:solidFill>
                  </a:tcPr>
                </a:tc>
                <a:tc>
                  <a:txBody>
                    <a:bodyPr/>
                    <a:lstStyle/>
                    <a:p>
                      <a:pPr algn="ctr"/>
                      <a:r>
                        <a:rPr sz="1200" b="0">
                          <a:solidFill>
                            <a:srgbClr val="FF5F39"/>
                          </a:solidFill>
                          <a:latin typeface="IBM Plex Sans"/>
                        </a:rPr>
                        <a:t>60 %</a:t>
                      </a:r>
                    </a:p>
                  </a:txBody>
                  <a:tcPr marL="73152" marR="73152" anchor="ctr">
                    <a:solidFill>
                      <a:srgbClr val="FFFFFF"/>
                    </a:solidFill>
                  </a:tcPr>
                </a:tc>
              </a:tr>
              <a:tr h="467360">
                <a:tc>
                  <a:txBody>
                    <a:bodyPr/>
                    <a:lstStyle/>
                    <a:p>
                      <a:pPr algn="l"/>
                      <a:r>
                        <a:rPr sz="1200" b="0">
                          <a:solidFill>
                            <a:srgbClr val="1A1A1A"/>
                          </a:solidFill>
                          <a:latin typeface="IBM Plex Sans"/>
                        </a:rPr>
                        <a:t>Rentable (plus de 40 %)</a:t>
                      </a:r>
                    </a:p>
                  </a:txBody>
                  <a:tcPr marL="73152" marR="73152" anchor="ctr">
                    <a:solidFill>
                      <a:srgbClr val="F2F2F2"/>
                    </a:solidFill>
                  </a:tcPr>
                </a:tc>
                <a:tc>
                  <a:txBody>
                    <a:bodyPr/>
                    <a:lstStyle/>
                    <a:p>
                      <a:pPr algn="ctr"/>
                      <a:r>
                        <a:rPr sz="1200" b="1">
                          <a:solidFill>
                            <a:srgbClr val="0039FA"/>
                          </a:solidFill>
                          <a:latin typeface="IBM Plex Sans"/>
                        </a:rPr>
                        <a:t>oui</a:t>
                      </a:r>
                    </a:p>
                  </a:txBody>
                  <a:tcPr marL="73152" marR="73152" anchor="ctr">
                    <a:solidFill>
                      <a:srgbClr val="F2F2F2"/>
                    </a:solidFill>
                  </a:tcPr>
                </a:tc>
                <a:tc>
                  <a:txBody>
                    <a:bodyPr/>
                    <a:lstStyle/>
                    <a:p>
                      <a:pPr algn="ctr"/>
                      <a:r>
                        <a:rPr sz="1200" b="0">
                          <a:solidFill>
                            <a:srgbClr val="1A1A1A"/>
                          </a:solidFill>
                          <a:latin typeface="IBM Plex Sans"/>
                        </a:rPr>
                        <a:t>oui</a:t>
                      </a:r>
                    </a:p>
                  </a:txBody>
                  <a:tcPr marL="73152" marR="73152" anchor="ctr">
                    <a:solidFill>
                      <a:srgbClr val="F2F2F2"/>
                    </a:solidFill>
                  </a:tcPr>
                </a:tc>
                <a:tc>
                  <a:txBody>
                    <a:bodyPr/>
                    <a:lstStyle/>
                    <a:p>
                      <a:pPr algn="ctr"/>
                      <a:r>
                        <a:rPr sz="1200" b="0">
                          <a:solidFill>
                            <a:srgbClr val="1A1A1A"/>
                          </a:solidFill>
                          <a:latin typeface="IBM Plex Sans"/>
                        </a:rPr>
                        <a:t>oui</a:t>
                      </a:r>
                    </a:p>
                  </a:txBody>
                  <a:tcPr marL="73152" marR="73152" anchor="ctr">
                    <a:solidFill>
                      <a:srgbClr val="F2F2F2"/>
                    </a:solidFill>
                  </a:tcPr>
                </a:tc>
              </a:tr>
              <a:tr h="467360">
                <a:tc>
                  <a:txBody>
                    <a:bodyPr/>
                    <a:lstStyle/>
                    <a:p>
                      <a:pPr algn="l"/>
                      <a:r>
                        <a:rPr sz="1200" b="0">
                          <a:solidFill>
                            <a:srgbClr val="1A1A1A"/>
                          </a:solidFill>
                          <a:latin typeface="IBM Plex Sans"/>
                        </a:rPr>
                        <a:t>Ne dépasse pas la capacité (12 % au plus)</a:t>
                      </a:r>
                    </a:p>
                  </a:txBody>
                  <a:tcPr marL="73152" marR="73152" anchor="ctr">
                    <a:solidFill>
                      <a:srgbClr val="FFFFFF"/>
                    </a:solidFill>
                  </a:tcPr>
                </a:tc>
                <a:tc>
                  <a:txBody>
                    <a:bodyPr/>
                    <a:lstStyle/>
                    <a:p>
                      <a:pPr algn="ctr"/>
                      <a:r>
                        <a:rPr sz="1200" b="1">
                          <a:solidFill>
                            <a:srgbClr val="0039FA"/>
                          </a:solidFill>
                          <a:latin typeface="IBM Plex Sans"/>
                        </a:rPr>
                        <a:t>11,6 %</a:t>
                      </a:r>
                    </a:p>
                  </a:txBody>
                  <a:tcPr marL="73152" marR="73152" anchor="ctr">
                    <a:solidFill>
                      <a:srgbClr val="FFFFFF"/>
                    </a:solidFill>
                  </a:tcPr>
                </a:tc>
                <a:tc>
                  <a:txBody>
                    <a:bodyPr/>
                    <a:lstStyle/>
                    <a:p>
                      <a:pPr algn="ctr"/>
                      <a:r>
                        <a:rPr sz="1200" b="0">
                          <a:solidFill>
                            <a:srgbClr val="FF5F39"/>
                          </a:solidFill>
                          <a:latin typeface="IBM Plex Sans"/>
                        </a:rPr>
                        <a:t>13,6 %</a:t>
                      </a:r>
                    </a:p>
                  </a:txBody>
                  <a:tcPr marL="73152" marR="73152" anchor="ctr">
                    <a:solidFill>
                      <a:srgbClr val="FFFFFF"/>
                    </a:solidFill>
                  </a:tcPr>
                </a:tc>
                <a:tc>
                  <a:txBody>
                    <a:bodyPr/>
                    <a:lstStyle/>
                    <a:p>
                      <a:pPr algn="ctr"/>
                      <a:r>
                        <a:rPr sz="1200" b="0">
                          <a:solidFill>
                            <a:srgbClr val="0039FA"/>
                          </a:solidFill>
                          <a:latin typeface="IBM Plex Sans"/>
                        </a:rPr>
                        <a:t>5,2 %</a:t>
                      </a:r>
                    </a:p>
                  </a:txBody>
                  <a:tcPr marL="73152" marR="73152" anchor="ctr">
                    <a:solidFill>
                      <a:srgbClr val="FFFFFF"/>
                    </a:solidFill>
                  </a:tcPr>
                </a:tc>
              </a:tr>
              <a:tr h="467360">
                <a:tc>
                  <a:txBody>
                    <a:bodyPr/>
                    <a:lstStyle/>
                    <a:p>
                      <a:pPr algn="l"/>
                      <a:r>
                        <a:rPr sz="1200" b="0">
                          <a:solidFill>
                            <a:srgbClr val="1A1A1A"/>
                          </a:solidFill>
                          <a:latin typeface="IBM Plex Sans"/>
                        </a:rPr>
                        <a:t>Même résultat avec chaque classe à 1/3</a:t>
                      </a:r>
                    </a:p>
                  </a:txBody>
                  <a:tcPr marL="73152" marR="73152" anchor="ctr">
                    <a:solidFill>
                      <a:srgbClr val="F2F2F2"/>
                    </a:solidFill>
                  </a:tcPr>
                </a:tc>
                <a:tc>
                  <a:txBody>
                    <a:bodyPr/>
                    <a:lstStyle/>
                    <a:p>
                      <a:pPr algn="ctr"/>
                      <a:r>
                        <a:rPr sz="1200" b="1">
                          <a:solidFill>
                            <a:srgbClr val="0039FA"/>
                          </a:solidFill>
                          <a:latin typeface="IBM Plex Sans"/>
                        </a:rPr>
                        <a:t>96 %</a:t>
                      </a:r>
                    </a:p>
                  </a:txBody>
                  <a:tcPr marL="73152" marR="73152" anchor="ctr">
                    <a:solidFill>
                      <a:srgbClr val="F2F2F2"/>
                    </a:solidFill>
                  </a:tcPr>
                </a:tc>
                <a:tc>
                  <a:txBody>
                    <a:bodyPr/>
                    <a:lstStyle/>
                    <a:p>
                      <a:pPr algn="ctr"/>
                      <a:r>
                        <a:rPr sz="1200" b="0">
                          <a:solidFill>
                            <a:srgbClr val="FF5F39"/>
                          </a:solidFill>
                          <a:latin typeface="IBM Plex Sans"/>
                        </a:rPr>
                        <a:t>88 %</a:t>
                      </a:r>
                    </a:p>
                  </a:txBody>
                  <a:tcPr marL="73152" marR="73152" anchor="ctr">
                    <a:solidFill>
                      <a:srgbClr val="F2F2F2"/>
                    </a:solidFill>
                  </a:tcPr>
                </a:tc>
                <a:tc>
                  <a:txBody>
                    <a:bodyPr/>
                    <a:lstStyle/>
                    <a:p>
                      <a:pPr algn="ctr"/>
                      <a:r>
                        <a:rPr sz="1200" b="0">
                          <a:solidFill>
                            <a:srgbClr val="FF5F39"/>
                          </a:solidFill>
                          <a:latin typeface="IBM Plex Sans"/>
                        </a:rPr>
                        <a:t>60 %</a:t>
                      </a:r>
                    </a:p>
                  </a:txBody>
                  <a:tcPr marL="73152" marR="73152" anchor="ctr">
                    <a:solidFill>
                      <a:srgbClr val="F2F2F2"/>
                    </a:solidFill>
                  </a:tcPr>
                </a:tc>
              </a:tr>
              <a:tr h="467360">
                <a:tc>
                  <a:txBody>
                    <a:bodyPr/>
                    <a:lstStyle/>
                    <a:p>
                      <a:pPr algn="l"/>
                      <a:r>
                        <a:rPr sz="1200" b="0">
                          <a:solidFill>
                            <a:srgbClr val="1A1A1A"/>
                          </a:solidFill>
                          <a:latin typeface="IBM Plex Sans"/>
                        </a:rPr>
                        <a:t>Motif concret pour aborder le passager</a:t>
                      </a:r>
                    </a:p>
                  </a:txBody>
                  <a:tcPr marL="73152" marR="73152" anchor="ctr">
                    <a:solidFill>
                      <a:srgbClr val="FFFFFF"/>
                    </a:solidFill>
                  </a:tcPr>
                </a:tc>
                <a:tc>
                  <a:txBody>
                    <a:bodyPr/>
                    <a:lstStyle/>
                    <a:p>
                      <a:pPr algn="ctr"/>
                      <a:r>
                        <a:rPr sz="1200" b="1">
                          <a:solidFill>
                            <a:srgbClr val="0039FA"/>
                          </a:solidFill>
                          <a:latin typeface="IBM Plex Sans"/>
                        </a:rPr>
                        <a:t>le retard</a:t>
                      </a:r>
                    </a:p>
                  </a:txBody>
                  <a:tcPr marL="73152" marR="73152" anchor="ctr">
                    <a:solidFill>
                      <a:srgbClr val="FFFFFF"/>
                    </a:solidFill>
                  </a:tcPr>
                </a:tc>
                <a:tc>
                  <a:txBody>
                    <a:bodyPr/>
                    <a:lstStyle/>
                    <a:p>
                      <a:pPr algn="ctr"/>
                      <a:r>
                        <a:rPr sz="1200" b="0">
                          <a:solidFill>
                            <a:srgbClr val="FF5F39"/>
                          </a:solidFill>
                          <a:latin typeface="IBM Plex Sans"/>
                        </a:rPr>
                        <a:t>non</a:t>
                      </a:r>
                    </a:p>
                  </a:txBody>
                  <a:tcPr marL="73152" marR="73152" anchor="ctr">
                    <a:solidFill>
                      <a:srgbClr val="FFFFFF"/>
                    </a:solidFill>
                  </a:tcPr>
                </a:tc>
                <a:tc>
                  <a:txBody>
                    <a:bodyPr/>
                    <a:lstStyle/>
                    <a:p>
                      <a:pPr algn="ctr"/>
                      <a:r>
                        <a:rPr sz="1200" b="0">
                          <a:solidFill>
                            <a:srgbClr val="FF5F39"/>
                          </a:solidFill>
                          <a:latin typeface="IBM Plex Sans"/>
                        </a:rPr>
                        <a:t>non</a:t>
                      </a:r>
                    </a:p>
                  </a:txBody>
                  <a:tcPr marL="73152" marR="73152" anchor="ctr">
                    <a:solidFill>
                      <a:srgbClr val="FFFFFF"/>
                    </a:solidFill>
                  </a:tcPr>
                </a:tc>
              </a:tr>
              <a:tr h="467360">
                <a:tc>
                  <a:txBody>
                    <a:bodyPr/>
                    <a:lstStyle/>
                    <a:p>
                      <a:pPr algn="l"/>
                      <a:r>
                        <a:rPr sz="1200" b="0">
                          <a:solidFill>
                            <a:srgbClr val="1A1A1A"/>
                          </a:solidFill>
                          <a:latin typeface="IBM Plex Sans"/>
                        </a:rPr>
                        <a:t>Sans âge ni genre</a:t>
                      </a:r>
                    </a:p>
                  </a:txBody>
                  <a:tcPr marL="73152" marR="73152" anchor="ctr">
                    <a:solidFill>
                      <a:srgbClr val="F2F2F2"/>
                    </a:solidFill>
                  </a:tcPr>
                </a:tc>
                <a:tc>
                  <a:txBody>
                    <a:bodyPr/>
                    <a:lstStyle/>
                    <a:p>
                      <a:pPr algn="ctr"/>
                      <a:r>
                        <a:rPr sz="1200" b="1">
                          <a:solidFill>
                            <a:srgbClr val="0039FA"/>
                          </a:solidFill>
                          <a:latin typeface="IBM Plex Sans"/>
                        </a:rPr>
                        <a:t>oui</a:t>
                      </a:r>
                    </a:p>
                  </a:txBody>
                  <a:tcPr marL="73152" marR="73152" anchor="ctr">
                    <a:solidFill>
                      <a:srgbClr val="F2F2F2"/>
                    </a:solidFill>
                  </a:tcPr>
                </a:tc>
                <a:tc>
                  <a:txBody>
                    <a:bodyPr/>
                    <a:lstStyle/>
                    <a:p>
                      <a:pPr algn="ctr"/>
                      <a:r>
                        <a:rPr sz="1200" b="0">
                          <a:solidFill>
                            <a:srgbClr val="1A1A1A"/>
                          </a:solidFill>
                          <a:latin typeface="IBM Plex Sans"/>
                        </a:rPr>
                        <a:t>oui</a:t>
                      </a:r>
                    </a:p>
                  </a:txBody>
                  <a:tcPr marL="73152" marR="73152" anchor="ctr">
                    <a:solidFill>
                      <a:srgbClr val="F2F2F2"/>
                    </a:solidFill>
                  </a:tcPr>
                </a:tc>
                <a:tc>
                  <a:txBody>
                    <a:bodyPr/>
                    <a:lstStyle/>
                    <a:p>
                      <a:pPr algn="ctr"/>
                      <a:r>
                        <a:rPr sz="1200" b="0">
                          <a:solidFill>
                            <a:srgbClr val="1A1A1A"/>
                          </a:solidFill>
                          <a:latin typeface="IBM Plex Sans"/>
                        </a:rPr>
                        <a:t>oui</a:t>
                      </a:r>
                    </a:p>
                  </a:txBody>
                  <a:tcPr marL="73152" marR="73152" anchor="ctr">
                    <a:solidFill>
                      <a:srgbClr val="F2F2F2"/>
                    </a:solidFill>
                  </a:tcPr>
                </a:tc>
              </a:tr>
              <a:tr h="467360">
                <a:tc>
                  <a:txBody>
                    <a:bodyPr/>
                    <a:lstStyle/>
                    <a:p>
                      <a:pPr algn="l"/>
                      <a:r>
                        <a:rPr sz="1200" b="1">
                          <a:solidFill>
                            <a:srgbClr val="1A1A1A"/>
                          </a:solidFill>
                          <a:latin typeface="IBM Plex Sans"/>
                        </a:rPr>
                        <a:t>Critères remplis</a:t>
                      </a:r>
                    </a:p>
                  </a:txBody>
                  <a:tcPr marL="73152" marR="73152" anchor="ctr">
                    <a:solidFill>
                      <a:srgbClr val="FFFFFF"/>
                    </a:solidFill>
                  </a:tcPr>
                </a:tc>
                <a:tc>
                  <a:txBody>
                    <a:bodyPr/>
                    <a:lstStyle/>
                    <a:p>
                      <a:pPr algn="ctr"/>
                      <a:r>
                        <a:rPr sz="1200" b="1">
                          <a:solidFill>
                            <a:srgbClr val="0039FA"/>
                          </a:solidFill>
                          <a:latin typeface="IBM Plex Sans"/>
                        </a:rPr>
                        <a:t>7 sur 7</a:t>
                      </a:r>
                    </a:p>
                  </a:txBody>
                  <a:tcPr marL="73152" marR="73152" anchor="ctr">
                    <a:solidFill>
                      <a:srgbClr val="FFFFFF"/>
                    </a:solidFill>
                  </a:tcPr>
                </a:tc>
                <a:tc>
                  <a:txBody>
                    <a:bodyPr/>
                    <a:lstStyle/>
                    <a:p>
                      <a:pPr algn="ctr"/>
                      <a:r>
                        <a:rPr sz="1200" b="1">
                          <a:solidFill>
                            <a:srgbClr val="1A1A1A"/>
                          </a:solidFill>
                          <a:latin typeface="IBM Plex Sans"/>
                        </a:rPr>
                        <a:t>3 sur 7</a:t>
                      </a:r>
                    </a:p>
                  </a:txBody>
                  <a:tcPr marL="73152" marR="73152" anchor="ctr">
                    <a:solidFill>
                      <a:srgbClr val="FFFFFF"/>
                    </a:solidFill>
                  </a:tcPr>
                </a:tc>
                <a:tc>
                  <a:txBody>
                    <a:bodyPr/>
                    <a:lstStyle/>
                    <a:p>
                      <a:pPr algn="ctr"/>
                      <a:r>
                        <a:rPr sz="1200" b="1">
                          <a:solidFill>
                            <a:srgbClr val="1A1A1A"/>
                          </a:solidFill>
                          <a:latin typeface="IBM Plex Sans"/>
                        </a:rPr>
                        <a:t>4 sur 7</a:t>
                      </a:r>
                    </a:p>
                  </a:txBody>
                  <a:tcPr marL="73152" marR="73152" anchor="ctr">
                    <a:solidFill>
                      <a:srgbClr val="FFFFFF"/>
                    </a:solidFill>
                  </a:tcPr>
                </a:tc>
              </a:tr>
            </a:tbl>
          </a:graphicData>
        </a:graphic>
      </p:graphicFrame>
      <p:sp>
        <p:nvSpPr>
          <p:cNvPr id="12" name="Note"/>
          <p:cNvSpPr txBox="1"/>
          <p:nvPr/>
        </p:nvSpPr>
        <p:spPr>
          <a:xfrm>
            <a:off x="4800600" y="5989320"/>
            <a:ext cx="6858000" cy="320040"/>
          </a:xfrm>
          <a:prstGeom prst="rect">
            <a:avLst/>
          </a:prstGeom>
          <a:noFill/>
        </p:spPr>
        <p:txBody>
          <a:bodyPr wrap="square" anchor="t" lIns="0" rIns="0" tIns="0" bIns="0">
            <a:spAutoFit/>
          </a:bodyPr>
          <a:lstStyle/>
          <a:p>
            <a:pPr algn="l"/>
            <a:r>
              <a:rPr sz="1100" b="0">
                <a:solidFill>
                  <a:srgbClr val="555555"/>
                </a:solidFill>
                <a:latin typeface="IBM Plex Sans"/>
              </a:rPr>
              <a:t>P2 : pro, Eco ou Eco Plus, client non fidèle.   P3 : Business, client non fidèle.</a:t>
            </a:r>
          </a:p>
        </p:txBody>
      </p:sp>
      <p:sp>
        <p:nvSpPr>
          <p:cNvPr id="1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14"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ubrique"/>
          <p:cNvSpPr txBox="1"/>
          <p:nvPr/>
        </p:nvSpPr>
        <p:spPr>
          <a:xfrm>
            <a:off x="548640" y="411480"/>
            <a:ext cx="10972800" cy="274320"/>
          </a:xfrm>
          <a:prstGeom prst="rect">
            <a:avLst/>
          </a:prstGeom>
          <a:noFill/>
        </p:spPr>
        <p:txBody>
          <a:bodyPr wrap="square" anchor="t" lIns="0" rIns="0" tIns="0" bIns="0">
            <a:spAutoFit/>
          </a:bodyPr>
          <a:lstStyle/>
          <a:p>
            <a:pPr algn="l"/>
            <a:r>
              <a:rPr sz="1200" b="1">
                <a:solidFill>
                  <a:srgbClr val="FF5F39"/>
                </a:solidFill>
                <a:latin typeface="IBM Plex Sans"/>
              </a:rPr>
              <a:t>PROTECTION DES DONNÉES</a:t>
            </a:r>
          </a:p>
        </p:txBody>
      </p:sp>
      <p:sp>
        <p:nvSpPr>
          <p:cNvPr id="3" name="Titre"/>
          <p:cNvSpPr txBox="1"/>
          <p:nvPr/>
        </p:nvSpPr>
        <p:spPr>
          <a:xfrm>
            <a:off x="548640" y="685800"/>
            <a:ext cx="11064240" cy="822960"/>
          </a:xfrm>
          <a:prstGeom prst="rect">
            <a:avLst/>
          </a:prstGeom>
          <a:noFill/>
        </p:spPr>
        <p:txBody>
          <a:bodyPr wrap="square" anchor="t" lIns="0" rIns="0" tIns="0" bIns="0">
            <a:spAutoFit/>
          </a:bodyPr>
          <a:lstStyle/>
          <a:p>
            <a:pPr algn="l"/>
            <a:r>
              <a:rPr sz="3000" b="1">
                <a:solidFill>
                  <a:srgbClr val="0039FA"/>
                </a:solidFill>
                <a:latin typeface="IBM Plex Sans"/>
              </a:rPr>
              <a:t>Un nouvel usage des données, encadré par cinq conditions</a:t>
            </a:r>
          </a:p>
        </p:txBody>
      </p:sp>
      <p:sp>
        <p:nvSpPr>
          <p:cNvPr id="4" name="Condition 1"/>
          <p:cNvSpPr/>
          <p:nvPr/>
        </p:nvSpPr>
        <p:spPr>
          <a:xfrm>
            <a:off x="548640" y="1691640"/>
            <a:ext cx="3520440" cy="196596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stille condition 1"/>
          <p:cNvSpPr/>
          <p:nvPr/>
        </p:nvSpPr>
        <p:spPr>
          <a:xfrm>
            <a:off x="777240" y="1920240"/>
            <a:ext cx="457200" cy="457200"/>
          </a:xfrm>
          <a:prstGeom prst="ellipse">
            <a:avLst/>
          </a:prstGeom>
          <a:solidFill>
            <a:srgbClr val="003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BM Plex Sans"/>
              </a:rPr>
              <a:t>1</a:t>
            </a:r>
          </a:p>
        </p:txBody>
      </p:sp>
      <p:sp>
        <p:nvSpPr>
          <p:cNvPr id="6" name="TextBox 5"/>
          <p:cNvSpPr txBox="1"/>
          <p:nvPr/>
        </p:nvSpPr>
        <p:spPr>
          <a:xfrm>
            <a:off x="1417319" y="193852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Cadre légal</a:t>
            </a:r>
          </a:p>
        </p:txBody>
      </p:sp>
      <p:sp>
        <p:nvSpPr>
          <p:cNvPr id="7" name="TextBox 6"/>
          <p:cNvSpPr txBox="1"/>
          <p:nvPr/>
        </p:nvSpPr>
        <p:spPr>
          <a:xfrm>
            <a:off x="777240" y="2560320"/>
            <a:ext cx="3108960" cy="1051560"/>
          </a:xfrm>
          <a:prstGeom prst="rect">
            <a:avLst/>
          </a:prstGeom>
          <a:noFill/>
        </p:spPr>
        <p:txBody>
          <a:bodyPr wrap="square" anchor="t" lIns="0" rIns="0" tIns="0" bIns="0">
            <a:spAutoFit/>
          </a:bodyPr>
          <a:lstStyle/>
          <a:p>
            <a:pPr algn="l"/>
            <a:r>
              <a:rPr sz="1300" b="0">
                <a:solidFill>
                  <a:srgbClr val="1A1A1A"/>
                </a:solidFill>
                <a:latin typeface="IBM Plex Sans"/>
              </a:rPr>
              <a:t>Analyse d'impact, information des passagers, droit de s'opposer au signalement.</a:t>
            </a:r>
          </a:p>
        </p:txBody>
      </p:sp>
      <p:sp>
        <p:nvSpPr>
          <p:cNvPr id="8" name="Condition 2"/>
          <p:cNvSpPr/>
          <p:nvPr/>
        </p:nvSpPr>
        <p:spPr>
          <a:xfrm>
            <a:off x="4297679" y="1691640"/>
            <a:ext cx="3520440" cy="196596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stille condition 2"/>
          <p:cNvSpPr/>
          <p:nvPr/>
        </p:nvSpPr>
        <p:spPr>
          <a:xfrm>
            <a:off x="4526279" y="1920240"/>
            <a:ext cx="457200" cy="457200"/>
          </a:xfrm>
          <a:prstGeom prst="ellipse">
            <a:avLst/>
          </a:prstGeom>
          <a:solidFill>
            <a:srgbClr val="003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BM Plex Sans"/>
              </a:rPr>
              <a:t>2</a:t>
            </a:r>
          </a:p>
        </p:txBody>
      </p:sp>
      <p:sp>
        <p:nvSpPr>
          <p:cNvPr id="10" name="TextBox 9"/>
          <p:cNvSpPr txBox="1"/>
          <p:nvPr/>
        </p:nvSpPr>
        <p:spPr>
          <a:xfrm>
            <a:off x="5166359" y="193852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Effet uniquement positif</a:t>
            </a:r>
          </a:p>
        </p:txBody>
      </p:sp>
      <p:sp>
        <p:nvSpPr>
          <p:cNvPr id="11" name="TextBox 10"/>
          <p:cNvSpPr txBox="1"/>
          <p:nvPr/>
        </p:nvSpPr>
        <p:spPr>
          <a:xfrm>
            <a:off x="4526279" y="2560320"/>
            <a:ext cx="3108960" cy="1051560"/>
          </a:xfrm>
          <a:prstGeom prst="rect">
            <a:avLst/>
          </a:prstGeom>
          <a:noFill/>
        </p:spPr>
        <p:txBody>
          <a:bodyPr wrap="square" anchor="t" lIns="0" rIns="0" tIns="0" bIns="0">
            <a:spAutoFit/>
          </a:bodyPr>
          <a:lstStyle/>
          <a:p>
            <a:pPr algn="l"/>
            <a:r>
              <a:rPr sz="1300" b="0">
                <a:solidFill>
                  <a:srgbClr val="1A1A1A"/>
                </a:solidFill>
                <a:latin typeface="IBM Plex Sans"/>
              </a:rPr>
              <a:t>Un signalement déclenche une attention (excuses, geste, aide), jamais un traitement défavorable.</a:t>
            </a:r>
          </a:p>
        </p:txBody>
      </p:sp>
      <p:sp>
        <p:nvSpPr>
          <p:cNvPr id="12" name="Condition 3"/>
          <p:cNvSpPr/>
          <p:nvPr/>
        </p:nvSpPr>
        <p:spPr>
          <a:xfrm>
            <a:off x="8046719" y="1691640"/>
            <a:ext cx="3520440" cy="196596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astille condition 3"/>
          <p:cNvSpPr/>
          <p:nvPr/>
        </p:nvSpPr>
        <p:spPr>
          <a:xfrm>
            <a:off x="8275319" y="1920240"/>
            <a:ext cx="457200" cy="457200"/>
          </a:xfrm>
          <a:prstGeom prst="ellipse">
            <a:avLst/>
          </a:prstGeom>
          <a:solidFill>
            <a:srgbClr val="003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BM Plex Sans"/>
              </a:rPr>
              <a:t>3</a:t>
            </a:r>
          </a:p>
        </p:txBody>
      </p:sp>
      <p:sp>
        <p:nvSpPr>
          <p:cNvPr id="14" name="TextBox 13"/>
          <p:cNvSpPr txBox="1"/>
          <p:nvPr/>
        </p:nvSpPr>
        <p:spPr>
          <a:xfrm>
            <a:off x="8915399" y="193852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Données minimales</a:t>
            </a:r>
          </a:p>
        </p:txBody>
      </p:sp>
      <p:sp>
        <p:nvSpPr>
          <p:cNvPr id="15" name="TextBox 14"/>
          <p:cNvSpPr txBox="1"/>
          <p:nvPr/>
        </p:nvSpPr>
        <p:spPr>
          <a:xfrm>
            <a:off x="8275319" y="2560320"/>
            <a:ext cx="3108960" cy="1051560"/>
          </a:xfrm>
          <a:prstGeom prst="rect">
            <a:avLst/>
          </a:prstGeom>
          <a:noFill/>
        </p:spPr>
        <p:txBody>
          <a:bodyPr wrap="square" anchor="t" lIns="0" rIns="0" tIns="0" bIns="0">
            <a:spAutoFit/>
          </a:bodyPr>
          <a:lstStyle/>
          <a:p>
            <a:pPr algn="l"/>
            <a:r>
              <a:rPr sz="1300" b="0">
                <a:solidFill>
                  <a:srgbClr val="1A1A1A"/>
                </a:solidFill>
                <a:latin typeface="IBM Plex Sans"/>
              </a:rPr>
              <a:t>Classe, distance, retard, fidélité, motif déclaré. Ni âge, ni genre, ni notes. Signalement supprimé après le vol.</a:t>
            </a:r>
          </a:p>
        </p:txBody>
      </p:sp>
      <p:sp>
        <p:nvSpPr>
          <p:cNvPr id="16" name="Condition 4"/>
          <p:cNvSpPr/>
          <p:nvPr/>
        </p:nvSpPr>
        <p:spPr>
          <a:xfrm>
            <a:off x="2423160" y="3931920"/>
            <a:ext cx="3520440" cy="1965960"/>
          </a:xfrm>
          <a:prstGeom prst="roundRect">
            <a:avLst>
              <a:gd name="adj" fmla="val 8000"/>
            </a:avLst>
          </a:prstGeom>
          <a:solidFill>
            <a:srgbClr val="FF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stille condition 4"/>
          <p:cNvSpPr/>
          <p:nvPr/>
        </p:nvSpPr>
        <p:spPr>
          <a:xfrm>
            <a:off x="2651760" y="4160520"/>
            <a:ext cx="457200" cy="457200"/>
          </a:xfrm>
          <a:prstGeom prst="ellipse">
            <a:avLst/>
          </a:prstGeom>
          <a:solidFill>
            <a:srgbClr val="FF5F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BM Plex Sans"/>
              </a:rPr>
              <a:t>4</a:t>
            </a:r>
          </a:p>
        </p:txBody>
      </p:sp>
      <p:sp>
        <p:nvSpPr>
          <p:cNvPr id="18" name="TextBox 17"/>
          <p:cNvSpPr txBox="1"/>
          <p:nvPr/>
        </p:nvSpPr>
        <p:spPr>
          <a:xfrm>
            <a:off x="3291839" y="417880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Mineurs</a:t>
            </a:r>
          </a:p>
        </p:txBody>
      </p:sp>
      <p:sp>
        <p:nvSpPr>
          <p:cNvPr id="19" name="TextBox 18"/>
          <p:cNvSpPr txBox="1"/>
          <p:nvPr/>
        </p:nvSpPr>
        <p:spPr>
          <a:xfrm>
            <a:off x="2651760" y="4800600"/>
            <a:ext cx="3108960" cy="1051560"/>
          </a:xfrm>
          <a:prstGeom prst="rect">
            <a:avLst/>
          </a:prstGeom>
          <a:noFill/>
        </p:spPr>
        <p:txBody>
          <a:bodyPr wrap="square" anchor="t" lIns="0" rIns="0" tIns="0" bIns="0">
            <a:spAutoFit/>
          </a:bodyPr>
          <a:lstStyle/>
          <a:p>
            <a:pPr algn="l"/>
            <a:r>
              <a:rPr sz="1300" b="0">
                <a:solidFill>
                  <a:srgbClr val="1A1A1A"/>
                </a:solidFill>
                <a:latin typeface="IBM Plex Sans"/>
              </a:rPr>
              <a:t>18 % des signalés : jamais ciblés en tant que tels, jamais approchés seuls ; l'agent s'adresse à l'adulte.</a:t>
            </a:r>
          </a:p>
        </p:txBody>
      </p:sp>
      <p:sp>
        <p:nvSpPr>
          <p:cNvPr id="20" name="Condition 5"/>
          <p:cNvSpPr/>
          <p:nvPr/>
        </p:nvSpPr>
        <p:spPr>
          <a:xfrm>
            <a:off x="6172200" y="3931920"/>
            <a:ext cx="3520440" cy="1965960"/>
          </a:xfrm>
          <a:prstGeom prst="roundRect">
            <a:avLst>
              <a:gd name="adj" fmla="val 8000"/>
            </a:avLst>
          </a:prstGeom>
          <a:solidFill>
            <a:srgbClr val="E5E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astille condition 5"/>
          <p:cNvSpPr/>
          <p:nvPr/>
        </p:nvSpPr>
        <p:spPr>
          <a:xfrm>
            <a:off x="6400800" y="4160520"/>
            <a:ext cx="457200" cy="457200"/>
          </a:xfrm>
          <a:prstGeom prst="ellipse">
            <a:avLst/>
          </a:prstGeom>
          <a:solidFill>
            <a:srgbClr val="003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BM Plex Sans"/>
              </a:rPr>
              <a:t>5</a:t>
            </a:r>
          </a:p>
        </p:txBody>
      </p:sp>
      <p:sp>
        <p:nvSpPr>
          <p:cNvPr id="22" name="TextBox 21"/>
          <p:cNvSpPr txBox="1"/>
          <p:nvPr/>
        </p:nvSpPr>
        <p:spPr>
          <a:xfrm>
            <a:off x="7040880" y="4178808"/>
            <a:ext cx="2560320" cy="457200"/>
          </a:xfrm>
          <a:prstGeom prst="rect">
            <a:avLst/>
          </a:prstGeom>
          <a:noFill/>
        </p:spPr>
        <p:txBody>
          <a:bodyPr wrap="square" anchor="ctr" lIns="0" rIns="0" tIns="0" bIns="0">
            <a:spAutoFit/>
          </a:bodyPr>
          <a:lstStyle/>
          <a:p>
            <a:pPr algn="l"/>
            <a:r>
              <a:rPr sz="1500" b="1">
                <a:solidFill>
                  <a:srgbClr val="1A1A1A"/>
                </a:solidFill>
                <a:latin typeface="IBM Plex Sans"/>
              </a:rPr>
              <a:t>Ce que voit l'agent</a:t>
            </a:r>
          </a:p>
        </p:txBody>
      </p:sp>
      <p:sp>
        <p:nvSpPr>
          <p:cNvPr id="23" name="TextBox 22"/>
          <p:cNvSpPr txBox="1"/>
          <p:nvPr/>
        </p:nvSpPr>
        <p:spPr>
          <a:xfrm>
            <a:off x="6400800" y="4800600"/>
            <a:ext cx="3108960" cy="1051560"/>
          </a:xfrm>
          <a:prstGeom prst="rect">
            <a:avLst/>
          </a:prstGeom>
          <a:noFill/>
        </p:spPr>
        <p:txBody>
          <a:bodyPr wrap="square" anchor="t" lIns="0" rIns="0" tIns="0" bIns="0">
            <a:spAutoFit/>
          </a:bodyPr>
          <a:lstStyle/>
          <a:p>
            <a:pPr algn="l"/>
            <a:r>
              <a:rPr sz="1300" b="0">
                <a:solidFill>
                  <a:srgbClr val="1A1A1A"/>
                </a:solidFill>
                <a:latin typeface="IBM Plex Sans"/>
              </a:rPr>
              <a:t>Nom, vol et motif : « voyage de loisirs en Eco, arrivé en retard ». Ni score, ni âge, ni mention de risque.</a:t>
            </a:r>
          </a:p>
        </p:txBody>
      </p:sp>
      <p:sp>
        <p:nvSpPr>
          <p:cNvPr id="24"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a:solidFill>
                  <a:srgbClr val="555555"/>
                </a:solidFill>
                <a:latin typeface="IBM Plex Sans"/>
              </a:rPr>
              <a:t>Rush 3 – Satisfaction passagers</a:t>
            </a:r>
          </a:p>
        </p:txBody>
      </p:sp>
      <p:sp>
        <p:nvSpPr>
          <p:cNvPr id="25" name="Numéro"/>
          <p:cNvSpPr txBox="1"/>
          <p:nvPr/>
        </p:nvSpPr>
        <p:spPr>
          <a:xfrm>
            <a:off x="10728655" y="6400800"/>
            <a:ext cx="914400" cy="274320"/>
          </a:xfrm>
          <a:prstGeom prst="rect">
            <a:avLst/>
          </a:prstGeom>
          <a:noFill/>
        </p:spPr>
        <p:txBody>
          <a:bodyPr wrap="square" anchor="t" lIns="0" rIns="0" tIns="0" bIns="0">
            <a:spAutoFit/>
          </a:bodyPr>
          <a:lstStyle/>
          <a:p>
            <a:pPr algn="r"/>
            <a:r>
              <a:rPr sz="1000" b="0">
                <a:solidFill>
                  <a:srgbClr val="555555"/>
                </a:solidFill>
                <a:latin typeface="IBM Plex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9FA"/>
        </a:solidFill>
        <a:effectLst/>
      </p:bgPr>
    </p:bg>
    <p:spTree>
      <p:nvGrpSpPr>
        <p:cNvPr id="1" name=""/>
        <p:cNvGrpSpPr/>
        <p:nvPr/>
      </p:nvGrpSpPr>
      <p:grpSpPr/>
      <p:sp>
        <p:nvSpPr>
          <p:cNvPr id="2" name="Titre"/>
          <p:cNvSpPr txBox="1"/>
          <p:nvPr/>
        </p:nvSpPr>
        <p:spPr>
          <a:xfrm>
            <a:off x="548640" y="548640"/>
            <a:ext cx="10972800" cy="822960"/>
          </a:xfrm>
          <a:prstGeom prst="rect">
            <a:avLst/>
          </a:prstGeom>
          <a:noFill/>
        </p:spPr>
        <p:txBody>
          <a:bodyPr wrap="square" anchor="t" lIns="0" rIns="0" tIns="0" bIns="0">
            <a:spAutoFit/>
          </a:bodyPr>
          <a:lstStyle/>
          <a:p>
            <a:pPr algn="l"/>
            <a:r>
              <a:rPr sz="3400" b="1">
                <a:solidFill>
                  <a:srgbClr val="FFFFFF"/>
                </a:solidFill>
                <a:latin typeface="IBM Plex Sans"/>
              </a:rPr>
              <a:t>Nos recommandations</a:t>
            </a:r>
          </a:p>
        </p:txBody>
      </p:sp>
      <p:sp>
        <p:nvSpPr>
          <p:cNvPr id="3" name="Colonne 1"/>
          <p:cNvSpPr/>
          <p:nvPr/>
        </p:nvSpPr>
        <p:spPr>
          <a:xfrm>
            <a:off x="548640" y="1691640"/>
            <a:ext cx="3520440" cy="3566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920240"/>
            <a:ext cx="3017520" cy="457200"/>
          </a:xfrm>
          <a:prstGeom prst="rect">
            <a:avLst/>
          </a:prstGeom>
          <a:noFill/>
        </p:spPr>
        <p:txBody>
          <a:bodyPr wrap="square" anchor="t" lIns="0" rIns="0" tIns="0" bIns="0">
            <a:spAutoFit/>
          </a:bodyPr>
          <a:lstStyle/>
          <a:p>
            <a:pPr algn="l"/>
            <a:r>
              <a:rPr sz="1700" b="1">
                <a:solidFill>
                  <a:srgbClr val="0039FA"/>
                </a:solidFill>
                <a:latin typeface="IBM Plex Sans"/>
              </a:rPr>
              <a:t>Investir le budget</a:t>
            </a:r>
          </a:p>
        </p:txBody>
      </p:sp>
      <p:sp>
        <p:nvSpPr>
          <p:cNvPr id="5" name="TextBox 4"/>
          <p:cNvSpPr txBox="1"/>
          <p:nvPr/>
        </p:nvSpPr>
        <p:spPr>
          <a:xfrm>
            <a:off x="822959" y="2514600"/>
            <a:ext cx="3017520" cy="3200400"/>
          </a:xfrm>
          <a:prstGeom prst="rect">
            <a:avLst/>
          </a:prstGeom>
          <a:noFill/>
        </p:spPr>
        <p:txBody>
          <a:bodyPr wrap="square" anchor="t" lIns="0" rIns="0" tIns="0" bIns="0">
            <a:spAutoFit/>
          </a:bodyPr>
          <a:lstStyle/>
          <a:p>
            <a:pPr algn="l">
              <a:spcAft>
                <a:spcPts val="1000"/>
              </a:spcAft>
            </a:pPr>
            <a:r>
              <a:rPr sz="1400" b="0">
                <a:solidFill>
                  <a:srgbClr val="1A1A1A"/>
                </a:solidFill>
                <a:latin typeface="IBM Plex Sans"/>
              </a:rPr>
              <a:t>•  Embarquement en ligne et wifi en Eco : viser 5 sur 5</a:t>
            </a:r>
          </a:p>
          <a:p>
            <a:pPr algn="l">
              <a:spcAft>
                <a:spcPts val="1000"/>
              </a:spcAft>
            </a:pPr>
            <a:r>
              <a:rPr sz="1400" b="0">
                <a:solidFill>
                  <a:srgbClr val="1A1A1A"/>
                </a:solidFill>
                <a:latin typeface="IBM Plex Sans"/>
              </a:rPr>
              <a:t>•  Réservation en ligne ensuite</a:t>
            </a:r>
          </a:p>
          <a:p>
            <a:pPr algn="l">
              <a:spcAft>
                <a:spcPts val="1000"/>
              </a:spcAft>
            </a:pPr>
            <a:r>
              <a:rPr sz="1400" b="0">
                <a:solidFill>
                  <a:srgbClr val="1A1A1A"/>
                </a:solidFill>
                <a:latin typeface="IBM Plex Sans"/>
              </a:rPr>
              <a:t>•  Confort cabine réservé à la Business</a:t>
            </a:r>
          </a:p>
          <a:p>
            <a:pPr algn="l">
              <a:spcAft>
                <a:spcPts val="1000"/>
              </a:spcAft>
            </a:pPr>
            <a:r>
              <a:rPr sz="1400" b="0">
                <a:solidFill>
                  <a:srgbClr val="1A1A1A"/>
                </a:solidFill>
                <a:latin typeface="IBM Plex Sans"/>
              </a:rPr>
              <a:t>•  Ponctualité : moins de 15 minutes de retard</a:t>
            </a:r>
          </a:p>
        </p:txBody>
      </p:sp>
      <p:sp>
        <p:nvSpPr>
          <p:cNvPr id="6" name="Colonne 2"/>
          <p:cNvSpPr/>
          <p:nvPr/>
        </p:nvSpPr>
        <p:spPr>
          <a:xfrm>
            <a:off x="4297679" y="1691640"/>
            <a:ext cx="3520440" cy="3566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1999" y="1920240"/>
            <a:ext cx="3017520" cy="457200"/>
          </a:xfrm>
          <a:prstGeom prst="rect">
            <a:avLst/>
          </a:prstGeom>
          <a:noFill/>
        </p:spPr>
        <p:txBody>
          <a:bodyPr wrap="square" anchor="t" lIns="0" rIns="0" tIns="0" bIns="0">
            <a:spAutoFit/>
          </a:bodyPr>
          <a:lstStyle/>
          <a:p>
            <a:pPr algn="l"/>
            <a:r>
              <a:rPr sz="1700" b="1">
                <a:solidFill>
                  <a:srgbClr val="0039FA"/>
                </a:solidFill>
                <a:latin typeface="IBM Plex Sans"/>
              </a:rPr>
              <a:t>Approcher à l'arrivée</a:t>
            </a:r>
          </a:p>
        </p:txBody>
      </p:sp>
      <p:sp>
        <p:nvSpPr>
          <p:cNvPr id="8" name="TextBox 7"/>
          <p:cNvSpPr txBox="1"/>
          <p:nvPr/>
        </p:nvSpPr>
        <p:spPr>
          <a:xfrm>
            <a:off x="4571999" y="2514600"/>
            <a:ext cx="3017520" cy="3200400"/>
          </a:xfrm>
          <a:prstGeom prst="rect">
            <a:avLst/>
          </a:prstGeom>
          <a:noFill/>
        </p:spPr>
        <p:txBody>
          <a:bodyPr wrap="square" anchor="t" lIns="0" rIns="0" tIns="0" bIns="0">
            <a:spAutoFit/>
          </a:bodyPr>
          <a:lstStyle/>
          <a:p>
            <a:pPr algn="l">
              <a:spcAft>
                <a:spcPts val="1000"/>
              </a:spcAft>
            </a:pPr>
            <a:r>
              <a:rPr sz="1400" b="0">
                <a:solidFill>
                  <a:srgbClr val="1A1A1A"/>
                </a:solidFill>
                <a:latin typeface="IBM Plex Sans"/>
              </a:rPr>
              <a:t>•  En priorité : loisirs, Eco ou Eco Plus, plus de 6 min de retard</a:t>
            </a:r>
          </a:p>
          <a:p>
            <a:pPr algn="l">
              <a:spcAft>
                <a:spcPts val="1000"/>
              </a:spcAft>
            </a:pPr>
            <a:r>
              <a:rPr sz="1400" b="0">
                <a:solidFill>
                  <a:srgbClr val="1A1A1A"/>
                </a:solidFill>
                <a:latin typeface="IBM Plex Sans"/>
              </a:rPr>
              <a:t>•  Déployer l'arbre de décision, sans âge ni genre</a:t>
            </a:r>
          </a:p>
          <a:p>
            <a:pPr algn="l">
              <a:spcAft>
                <a:spcPts val="1000"/>
              </a:spcAft>
            </a:pPr>
            <a:r>
              <a:rPr sz="1400" b="0">
                <a:solidFill>
                  <a:srgbClr val="1A1A1A"/>
                </a:solidFill>
                <a:latin typeface="IBM Plex Sans"/>
              </a:rPr>
              <a:t>•  Renforcer les équipes sur les vols de loisirs en retard</a:t>
            </a:r>
          </a:p>
        </p:txBody>
      </p:sp>
      <p:sp>
        <p:nvSpPr>
          <p:cNvPr id="9" name="Colonne 3"/>
          <p:cNvSpPr/>
          <p:nvPr/>
        </p:nvSpPr>
        <p:spPr>
          <a:xfrm>
            <a:off x="8046719" y="1691640"/>
            <a:ext cx="3520440" cy="3566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920240"/>
            <a:ext cx="3017520" cy="457200"/>
          </a:xfrm>
          <a:prstGeom prst="rect">
            <a:avLst/>
          </a:prstGeom>
          <a:noFill/>
        </p:spPr>
        <p:txBody>
          <a:bodyPr wrap="square" anchor="t" lIns="0" rIns="0" tIns="0" bIns="0">
            <a:spAutoFit/>
          </a:bodyPr>
          <a:lstStyle/>
          <a:p>
            <a:pPr algn="l"/>
            <a:r>
              <a:rPr sz="1700" b="1">
                <a:solidFill>
                  <a:srgbClr val="FF5F39"/>
                </a:solidFill>
                <a:latin typeface="IBM Plex Sans"/>
              </a:rPr>
              <a:t>Prochaines étapes</a:t>
            </a:r>
          </a:p>
        </p:txBody>
      </p:sp>
      <p:sp>
        <p:nvSpPr>
          <p:cNvPr id="11" name="TextBox 10"/>
          <p:cNvSpPr txBox="1"/>
          <p:nvPr/>
        </p:nvSpPr>
        <p:spPr>
          <a:xfrm>
            <a:off x="8321040" y="2514600"/>
            <a:ext cx="3017520" cy="3200400"/>
          </a:xfrm>
          <a:prstGeom prst="rect">
            <a:avLst/>
          </a:prstGeom>
          <a:noFill/>
        </p:spPr>
        <p:txBody>
          <a:bodyPr wrap="square" anchor="t" lIns="0" rIns="0" tIns="0" bIns="0">
            <a:spAutoFit/>
          </a:bodyPr>
          <a:lstStyle/>
          <a:p>
            <a:pPr algn="l">
              <a:spcAft>
                <a:spcPts val="1000"/>
              </a:spcAft>
            </a:pPr>
            <a:r>
              <a:rPr sz="1400" b="0">
                <a:solidFill>
                  <a:srgbClr val="1A1A1A"/>
                </a:solidFill>
                <a:latin typeface="IBM Plex Sans"/>
              </a:rPr>
              <a:t>•  Pilote sur quelques vols, avec groupe témoin</a:t>
            </a:r>
          </a:p>
          <a:p>
            <a:pPr algn="l">
              <a:spcAft>
                <a:spcPts val="1000"/>
              </a:spcAft>
            </a:pPr>
            <a:r>
              <a:rPr sz="1400" b="0">
                <a:solidFill>
                  <a:srgbClr val="1A1A1A"/>
                </a:solidFill>
                <a:latin typeface="IBM Plex Sans"/>
              </a:rPr>
              <a:t>•  Tester wifi et embarquement sur quelques lignes</a:t>
            </a:r>
          </a:p>
          <a:p>
            <a:pPr algn="l">
              <a:spcAft>
                <a:spcPts val="1000"/>
              </a:spcAft>
            </a:pPr>
            <a:r>
              <a:rPr sz="1400" b="0">
                <a:solidFill>
                  <a:srgbClr val="1A1A1A"/>
                </a:solidFill>
                <a:latin typeface="IBM Plex Sans"/>
              </a:rPr>
              <a:t>•  Obtenir la vraie répartition des passagers par classe</a:t>
            </a:r>
          </a:p>
        </p:txBody>
      </p:sp>
      <p:sp>
        <p:nvSpPr>
          <p:cNvPr id="12" name="Clôture"/>
          <p:cNvSpPr txBox="1"/>
          <p:nvPr/>
        </p:nvSpPr>
        <p:spPr>
          <a:xfrm>
            <a:off x="548640" y="5715000"/>
            <a:ext cx="10972800" cy="365760"/>
          </a:xfrm>
          <a:prstGeom prst="rect">
            <a:avLst/>
          </a:prstGeom>
          <a:noFill/>
        </p:spPr>
        <p:txBody>
          <a:bodyPr wrap="square" anchor="t" lIns="0" rIns="0" tIns="0" bIns="0">
            <a:spAutoFit/>
          </a:bodyPr>
          <a:lstStyle/>
          <a:p>
            <a:pPr algn="l"/>
            <a:r>
              <a:rPr sz="1600" b="1">
                <a:solidFill>
                  <a:srgbClr val="FFFFFF"/>
                </a:solidFill>
                <a:latin typeface="IBM Plex Sans"/>
              </a:rPr>
              <a:t>Merci. Nous répondons à vos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Rush 3 – Satisfaction passagers</dc:title>
  <dc:subject/>
  <dc:creator>Mina, Manon D., Manon 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